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Play"/>
      <p:regular r:id="rId28"/>
      <p:bold r:id="rId29"/>
    </p:embeddedFont>
    <p:embeddedFont>
      <p:font typeface="Plus Jakarta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lay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-bold.fntdata"/><Relationship Id="rId30" Type="http://schemas.openxmlformats.org/officeDocument/2006/relationships/font" Target="fonts/PlusJakartaSans-regular.fntdata"/><Relationship Id="rId11" Type="http://schemas.openxmlformats.org/officeDocument/2006/relationships/slide" Target="slides/slide5.xml"/><Relationship Id="rId33" Type="http://schemas.openxmlformats.org/officeDocument/2006/relationships/font" Target="fonts/PlusJakartaSans-boldItalic.fntdata"/><Relationship Id="rId10" Type="http://schemas.openxmlformats.org/officeDocument/2006/relationships/slide" Target="slides/slide4.xml"/><Relationship Id="rId32" Type="http://schemas.openxmlformats.org/officeDocument/2006/relationships/font" Target="fonts/PlusJakarta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d8d23845fbbb767_3_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hd8d23845fbbb767_3_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hd8d23845fbbb767_3_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d8d23845fbbb767_3_3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hd8d23845fbbb767_3_3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hd8d23845fbbb767_3_3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d8d23845fbbb767_3_8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hd8d23845fbbb767_3_8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hd8d23845fbbb767_3_8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d8d23845fbbb767_3_12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hd8d23845fbbb767_3_12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hd8d23845fbbb767_3_12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d8d23845fbbb767_3_16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hd8d23845fbbb767_3_16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hd8d23845fbbb767_3_16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d8d23845fbbb767_3_21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hd8d23845fbbb767_3_21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hd8d23845fbbb767_3_21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hd8d23845fbbb767_3_26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hd8d23845fbbb767_3_26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hd8d23845fbbb767_3_26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d8d23845fbbb767_3_30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hd8d23845fbbb767_3_30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hd8d23845fbbb767_3_30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hd8d23845fbbb7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hd8d23845fbbb7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hd8d23845fbbb767_0_1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hd8d23845fbbb767_0_17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hd8d23845fbbb767_0_1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hd8d23845fbbb767_3_40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hd8d23845fbbb767_3_40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hd8d23845fbbb767_3_40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hd8d23845fbbb767_3_45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hd8d23845fbbb767_3_45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hd8d23845fbbb767_3_45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hd8d23845fbbb767_3_54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hd8d23845fbbb767_3_54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hd8d23845fbbb767_3_54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hd8d23845fbbb767_3_79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hd8d23845fbbb767_3_79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hd8d23845fbbb767_3_79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hd8d23845fbbb767_3_84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hd8d23845fbbb767_3_84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hd8d23845fbbb767_3_84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hd8d23845fbbb767_3_91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hd8d23845fbbb767_3_91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hd8d23845fbbb767_3_91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hd8d23845fbbb767_3_96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hd8d23845fbbb767_3_96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hd8d23845fbbb767_3_96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hd8d23845fbbb767_0_3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hd8d23845fbbb767_0_3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hd8d23845fbbb767_0_3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hd8d23845fbbb767_3_112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hd8d23845fbbb767_3_1124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hd8d23845fbbb767_3_112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hd8d23845fbbb767_3_115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hd8d23845fbbb767_3_115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hd8d23845fbbb767_3_115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hd8d23845fbbb767_3_120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hd8d23845fbbb767_3_120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hd8d23845fbbb767_3_120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">
    <p:bg>
      <p:bgPr>
        <a:solidFill>
          <a:srgbClr val="F5F7F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5"/>
          <p:cNvCxnSpPr/>
          <p:nvPr/>
        </p:nvCxnSpPr>
        <p:spPr>
          <a:xfrm>
            <a:off x="377190" y="4882896"/>
            <a:ext cx="8387334" cy="0"/>
          </a:xfrm>
          <a:prstGeom prst="straightConnector1">
            <a:avLst/>
          </a:prstGeom>
          <a:noFill/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15"/>
          <p:cNvSpPr/>
          <p:nvPr/>
        </p:nvSpPr>
        <p:spPr>
          <a:xfrm>
            <a:off x="397764" y="4917186"/>
            <a:ext cx="4663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798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GENERATIVE AI &amp; ADVANCED NETS  •  REVISÃO FINAL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mateusdalbone-fiap/fiap-genai-advnets" TargetMode="External"/><Relationship Id="rId4" Type="http://schemas.openxmlformats.org/officeDocument/2006/relationships/hyperlink" Target="https://github.com/mateusdalbone-fiap/fiap-genai-advne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6665976" y="123444"/>
            <a:ext cx="2228850" cy="2228850"/>
          </a:xfrm>
          <a:prstGeom prst="ellipse">
            <a:avLst/>
          </a:prstGeom>
          <a:solidFill>
            <a:srgbClr val="142A47"/>
          </a:solidFill>
          <a:ln cap="flat" cmpd="sng" w="9525">
            <a:solidFill>
              <a:srgbClr val="142A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6981444" y="2619756"/>
            <a:ext cx="2002536" cy="2002536"/>
          </a:xfrm>
          <a:prstGeom prst="ellipse">
            <a:avLst/>
          </a:prstGeom>
          <a:solidFill>
            <a:srgbClr val="192640"/>
          </a:solidFill>
          <a:ln cap="flat" cmpd="sng" w="9525">
            <a:solidFill>
              <a:srgbClr val="1926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6137910" y="3497580"/>
            <a:ext cx="1028700" cy="1028700"/>
          </a:xfrm>
          <a:prstGeom prst="ellipse">
            <a:avLst/>
          </a:prstGeom>
          <a:solidFill>
            <a:srgbClr val="1D304A"/>
          </a:solidFill>
          <a:ln cap="flat" cmpd="sng" w="9525">
            <a:solidFill>
              <a:srgbClr val="1D30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493776" y="480060"/>
            <a:ext cx="1440180" cy="198882"/>
          </a:xfrm>
          <a:prstGeom prst="roundRect">
            <a:avLst>
              <a:gd fmla="val 16667" name="adj"/>
            </a:avLst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/>
        </p:nvSpPr>
        <p:spPr>
          <a:xfrm>
            <a:off x="528066" y="490347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AULA DE FECHAMENTO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480060" y="946404"/>
            <a:ext cx="4937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i="0" lang="pt-BR" sz="2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GENERATIVE AI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480060" y="1440180"/>
            <a:ext cx="5143500" cy="528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2700"/>
              <a:buFont typeface="Play"/>
              <a:buNone/>
            </a:pPr>
            <a:r>
              <a:rPr b="1" i="0" lang="pt-BR" sz="2700" u="none" cap="none" strike="noStrike">
                <a:solidFill>
                  <a:srgbClr val="23C7B7"/>
                </a:solidFill>
                <a:latin typeface="Play"/>
                <a:ea typeface="Play"/>
                <a:cs typeface="Play"/>
                <a:sym typeface="Play"/>
              </a:rPr>
              <a:t>&amp; ADVANCED NETS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507492" y="2091690"/>
            <a:ext cx="432054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E7F2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DFE7F2"/>
                </a:solidFill>
                <a:latin typeface="Arial"/>
                <a:ea typeface="Arial"/>
                <a:cs typeface="Arial"/>
                <a:sym typeface="Arial"/>
              </a:rPr>
              <a:t>Revisão integradora da disciplina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21208" y="2592324"/>
            <a:ext cx="39090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BD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AEBBD0"/>
                </a:solidFill>
                <a:latin typeface="Arial"/>
                <a:ea typeface="Arial"/>
                <a:cs typeface="Arial"/>
                <a:sym typeface="Arial"/>
              </a:rPr>
              <a:t>De modelos generativos a sistemas que recuperam conhecimento, usam ferramentas e coordenam agentes.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521208" y="4608576"/>
            <a:ext cx="35661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3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8A9BB3"/>
                </a:solidFill>
                <a:latin typeface="Arial"/>
                <a:ea typeface="Arial"/>
                <a:cs typeface="Arial"/>
                <a:sym typeface="Arial"/>
              </a:rPr>
              <a:t>FIAP  •  Material didático de revisão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5692140" y="877824"/>
            <a:ext cx="2846070" cy="651510"/>
          </a:xfrm>
          <a:prstGeom prst="roundRect">
            <a:avLst>
              <a:gd fmla="val 12632" name="adj"/>
            </a:avLst>
          </a:prstGeom>
          <a:solidFill>
            <a:srgbClr val="142238"/>
          </a:solidFill>
          <a:ln cap="flat" cmpd="sng" w="10150">
            <a:solidFill>
              <a:srgbClr val="2944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5698998" y="891540"/>
            <a:ext cx="2832354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5843016" y="980694"/>
            <a:ext cx="254431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B4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8EB4FF"/>
                </a:solidFill>
                <a:latin typeface="Arial"/>
                <a:ea typeface="Arial"/>
                <a:cs typeface="Arial"/>
                <a:sym typeface="Arial"/>
              </a:rPr>
              <a:t>01  CONHECIMENTO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5843016" y="1179576"/>
            <a:ext cx="25443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RAG  •  evidências  •  avaliação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692140" y="1817370"/>
            <a:ext cx="2846070" cy="651510"/>
          </a:xfrm>
          <a:prstGeom prst="roundRect">
            <a:avLst>
              <a:gd fmla="val 12632" name="adj"/>
            </a:avLst>
          </a:prstGeom>
          <a:solidFill>
            <a:srgbClr val="142238"/>
          </a:solidFill>
          <a:ln cap="flat" cmpd="sng" w="10150">
            <a:solidFill>
              <a:srgbClr val="2944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5698998" y="1831086"/>
            <a:ext cx="2832354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5843016" y="1920240"/>
            <a:ext cx="254431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B3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C3B3FF"/>
                </a:solidFill>
                <a:latin typeface="Arial"/>
                <a:ea typeface="Arial"/>
                <a:cs typeface="Arial"/>
                <a:sym typeface="Arial"/>
              </a:rPr>
              <a:t>02  GERAÇÃO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5843016" y="2119122"/>
            <a:ext cx="25443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AE / VAE  •  GAN  •  Diffusion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5692140" y="2756916"/>
            <a:ext cx="2846070" cy="651510"/>
          </a:xfrm>
          <a:prstGeom prst="roundRect">
            <a:avLst>
              <a:gd fmla="val 12632" name="adj"/>
            </a:avLst>
          </a:prstGeom>
          <a:solidFill>
            <a:srgbClr val="142238"/>
          </a:solidFill>
          <a:ln cap="flat" cmpd="sng" w="10150">
            <a:solidFill>
              <a:srgbClr val="2944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5698998" y="2770632"/>
            <a:ext cx="2832354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5843016" y="2859786"/>
            <a:ext cx="254431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03  AÇÃO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5843016" y="3058668"/>
            <a:ext cx="25443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 •  ferramentas  •  agentes  •  memória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7111746" y="1529334"/>
            <a:ext cx="0" cy="246888"/>
          </a:xfrm>
          <a:prstGeom prst="straightConnector1">
            <a:avLst/>
          </a:prstGeom>
          <a:noFill/>
          <a:ln cap="flat" cmpd="sng" w="25400">
            <a:solidFill>
              <a:srgbClr val="3657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6"/>
          <p:cNvCxnSpPr/>
          <p:nvPr/>
        </p:nvCxnSpPr>
        <p:spPr>
          <a:xfrm>
            <a:off x="7111746" y="2468880"/>
            <a:ext cx="0" cy="246888"/>
          </a:xfrm>
          <a:prstGeom prst="straightConnector1">
            <a:avLst/>
          </a:prstGeom>
          <a:noFill/>
          <a:ln cap="flat" cmpd="sng" w="25400">
            <a:solidFill>
              <a:srgbClr val="3657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6"/>
          <p:cNvSpPr txBox="1"/>
          <p:nvPr/>
        </p:nvSpPr>
        <p:spPr>
          <a:xfrm>
            <a:off x="5705856" y="3717036"/>
            <a:ext cx="2846070" cy="50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6D8"/>
              </a:buClr>
              <a:buSzPts val="1100"/>
              <a:buFont typeface="Arial"/>
              <a:buNone/>
            </a:pPr>
            <a:r>
              <a:rPr b="0" i="1" lang="pt-BR" sz="1100" u="none" cap="none" strike="noStrike">
                <a:solidFill>
                  <a:srgbClr val="B8C6D8"/>
                </a:solidFill>
                <a:latin typeface="Arial"/>
                <a:ea typeface="Arial"/>
                <a:cs typeface="Arial"/>
                <a:sym typeface="Arial"/>
              </a:rPr>
              <a:t>A pergunta central: como transformar um modelo em uma solução confiável?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01 / MAPA DA DISCIPLINA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Sete blocos, uma visão integrada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Cada tópico responde a uma pergunta diferente no desenho de uma solução de IA.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7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7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411480" y="1289304"/>
            <a:ext cx="2647188" cy="3051810"/>
          </a:xfrm>
          <a:prstGeom prst="roundRect">
            <a:avLst>
              <a:gd fmla="val 310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418338" y="1303020"/>
            <a:ext cx="2633472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569214" y="1474470"/>
            <a:ext cx="377190" cy="198882"/>
          </a:xfrm>
          <a:prstGeom prst="roundRect">
            <a:avLst>
              <a:gd fmla="val 16667" name="adj"/>
            </a:avLst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603504" y="1484757"/>
            <a:ext cx="30861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1049274" y="1481328"/>
            <a:ext cx="174879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AVALIAR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562356" y="1892808"/>
            <a:ext cx="2345436" cy="630936"/>
          </a:xfrm>
          <a:prstGeom prst="roundRect">
            <a:avLst>
              <a:gd fmla="val 16667" name="adj"/>
            </a:avLst>
          </a:prstGeom>
          <a:solidFill>
            <a:srgbClr val="E7EEFF"/>
          </a:solidFill>
          <a:ln cap="flat" cmpd="sng" w="9525">
            <a:solidFill>
              <a:srgbClr val="E7EE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672084" y="1995678"/>
            <a:ext cx="21259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RAG e avaliação sem ground truth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672084" y="2235708"/>
            <a:ext cx="21259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Métricas para retriever e generator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>
            <a:off x="582930" y="2729484"/>
            <a:ext cx="2304288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17"/>
          <p:cNvSpPr txBox="1"/>
          <p:nvPr/>
        </p:nvSpPr>
        <p:spPr>
          <a:xfrm>
            <a:off x="582930" y="2907792"/>
            <a:ext cx="2304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DF3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4F7DF3"/>
                </a:solidFill>
                <a:latin typeface="Arial"/>
                <a:ea typeface="Arial"/>
                <a:cs typeface="Arial"/>
                <a:sym typeface="Arial"/>
              </a:rPr>
              <a:t>PERGUNTA-CHAVE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582930" y="3161538"/>
            <a:ext cx="2304288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600"/>
              <a:buFont typeface="Play"/>
              <a:buNone/>
            </a:pPr>
            <a:r>
              <a:rPr b="1" i="0" lang="pt-BR" sz="16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A resposta está bem fundamentada?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250692" y="1289304"/>
            <a:ext cx="2647188" cy="3051810"/>
          </a:xfrm>
          <a:prstGeom prst="roundRect">
            <a:avLst>
              <a:gd fmla="val 310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3257550" y="1303020"/>
            <a:ext cx="2633472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3408426" y="1474470"/>
            <a:ext cx="377190" cy="198882"/>
          </a:xfrm>
          <a:prstGeom prst="roundRect">
            <a:avLst>
              <a:gd fmla="val 16667" name="adj"/>
            </a:avLst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3442716" y="1484757"/>
            <a:ext cx="30861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3888486" y="1481328"/>
            <a:ext cx="174879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GERAR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3401568" y="1892808"/>
            <a:ext cx="2345436" cy="630936"/>
          </a:xfrm>
          <a:prstGeom prst="roundRect">
            <a:avLst>
              <a:gd fmla="val 16667" name="adj"/>
            </a:avLst>
          </a:prstGeom>
          <a:solidFill>
            <a:srgbClr val="EEE8FF"/>
          </a:solidFill>
          <a:ln cap="flat" cmpd="sng" w="9525">
            <a:solidFill>
              <a:srgbClr val="EEE8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3511296" y="1995678"/>
            <a:ext cx="21259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Autoencoders e VAE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3511296" y="2235708"/>
            <a:ext cx="21259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GANs e modelos de difusão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7"/>
          <p:cNvCxnSpPr/>
          <p:nvPr/>
        </p:nvCxnSpPr>
        <p:spPr>
          <a:xfrm>
            <a:off x="3422142" y="2729484"/>
            <a:ext cx="2304288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7"/>
          <p:cNvSpPr txBox="1"/>
          <p:nvPr/>
        </p:nvSpPr>
        <p:spPr>
          <a:xfrm>
            <a:off x="3422142" y="2907792"/>
            <a:ext cx="2304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75F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9275F7"/>
                </a:solidFill>
                <a:latin typeface="Arial"/>
                <a:ea typeface="Arial"/>
                <a:cs typeface="Arial"/>
                <a:sym typeface="Arial"/>
              </a:rPr>
              <a:t>PERGUNTA-CHAVE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3422142" y="3161538"/>
            <a:ext cx="2304288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600"/>
              <a:buFont typeface="Play"/>
              <a:buNone/>
            </a:pPr>
            <a:r>
              <a:rPr b="1" i="0" lang="pt-BR" sz="16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Como aprender a distribuição dos dados?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6089904" y="1289304"/>
            <a:ext cx="2647188" cy="3051810"/>
          </a:xfrm>
          <a:prstGeom prst="roundRect">
            <a:avLst>
              <a:gd fmla="val 310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6096762" y="1303020"/>
            <a:ext cx="2633472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6247638" y="1474470"/>
            <a:ext cx="377190" cy="198882"/>
          </a:xfrm>
          <a:prstGeom prst="roundRect">
            <a:avLst>
              <a:gd fmla="val 16667" name="adj"/>
            </a:avLst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6281928" y="1484757"/>
            <a:ext cx="30861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6727698" y="1481328"/>
            <a:ext cx="174879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ORQUESTRAR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240780" y="1892808"/>
            <a:ext cx="2345436" cy="630936"/>
          </a:xfrm>
          <a:prstGeom prst="roundRect">
            <a:avLst>
              <a:gd fmla="val 16667" name="adj"/>
            </a:avLst>
          </a:prstGeom>
          <a:solidFill>
            <a:srgbClr val="DDF8F3"/>
          </a:solidFill>
          <a:ln cap="flat" cmpd="sng" w="9525">
            <a:solidFill>
              <a:srgbClr val="DDF8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6350508" y="1995678"/>
            <a:ext cx="21259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ReAct e tool calling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6350508" y="2235708"/>
            <a:ext cx="21259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Multiagentes e memória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17"/>
          <p:cNvCxnSpPr/>
          <p:nvPr/>
        </p:nvCxnSpPr>
        <p:spPr>
          <a:xfrm>
            <a:off x="6261354" y="2729484"/>
            <a:ext cx="2304288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17"/>
          <p:cNvSpPr txBox="1"/>
          <p:nvPr/>
        </p:nvSpPr>
        <p:spPr>
          <a:xfrm>
            <a:off x="6261354" y="2907792"/>
            <a:ext cx="230428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PERGUNTA-CHAVE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6261354" y="3161538"/>
            <a:ext cx="2304288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600"/>
              <a:buFont typeface="Play"/>
              <a:buNone/>
            </a:pPr>
            <a:r>
              <a:rPr b="1" i="0" lang="pt-BR" sz="16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Como sair da resposta para a ação?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11480" y="4738878"/>
            <a:ext cx="781812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8A95A5"/>
                </a:solidFill>
                <a:latin typeface="Arial"/>
                <a:ea typeface="Arial"/>
                <a:cs typeface="Arial"/>
                <a:sym typeface="Arial"/>
              </a:rPr>
              <a:t>Tópicos conforme o README do repositório de aulas.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02 / FUNDAMENTOS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Modelo generativo não é o mesmo que sistema generativo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Separe o tipo de modelo da arquitetura de aplicação que usa esse modelo.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18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18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25196" y="1289304"/>
            <a:ext cx="3991356" cy="174879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432054" y="1303020"/>
            <a:ext cx="3977640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617220" y="1460754"/>
            <a:ext cx="1179576" cy="198882"/>
          </a:xfrm>
          <a:prstGeom prst="roundRect">
            <a:avLst>
              <a:gd fmla="val 16667" name="adj"/>
            </a:avLst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51510" y="1471041"/>
            <a:ext cx="11109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DISCRIMINATIVO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617220" y="1796796"/>
            <a:ext cx="33947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“A que classe pertence?”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630936" y="2194560"/>
            <a:ext cx="3394710" cy="432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Aprende a distinguir classes, rótulos ou decisões a partir de entradas.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630936" y="2674620"/>
            <a:ext cx="342900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DF3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4F7DF3"/>
                </a:solidFill>
                <a:latin typeface="Arial"/>
                <a:ea typeface="Arial"/>
                <a:cs typeface="Arial"/>
                <a:sym typeface="Arial"/>
              </a:rPr>
              <a:t>Ex.: classificar transação como fraude ou legítima.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697730" y="1289304"/>
            <a:ext cx="3991356" cy="174879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4704588" y="1303020"/>
            <a:ext cx="3977640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4889754" y="1460754"/>
            <a:ext cx="994410" cy="198882"/>
          </a:xfrm>
          <a:prstGeom prst="roundRect">
            <a:avLst>
              <a:gd fmla="val 16667" name="adj"/>
            </a:avLst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924044" y="1471041"/>
            <a:ext cx="9258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GENERATIVO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4889754" y="179679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“Que exemplo plausível posso criar?”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4903470" y="2194560"/>
            <a:ext cx="3394710" cy="432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Aprende padrões dos dados para produzir novas amostras condicionadas ou não.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4903470" y="2674620"/>
            <a:ext cx="342900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75F7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9275F7"/>
                </a:solidFill>
                <a:latin typeface="Arial"/>
                <a:ea typeface="Arial"/>
                <a:cs typeface="Arial"/>
                <a:sym typeface="Arial"/>
              </a:rPr>
              <a:t>Ex.: gerar imagem, texto ou reconstruir uma amostra.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459486" y="3278124"/>
            <a:ext cx="2626614" cy="72009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466344" y="3291840"/>
            <a:ext cx="2612898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69214" y="3367278"/>
            <a:ext cx="238658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75F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9275F7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569214" y="3566160"/>
            <a:ext cx="2386584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AE / VAE, GAN, diffusion, LLM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250692" y="3278124"/>
            <a:ext cx="2626614" cy="72009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3257550" y="3291840"/>
            <a:ext cx="2612898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3360420" y="3367278"/>
            <a:ext cx="238658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PADRÃO DE SISTEMA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3360420" y="3566160"/>
            <a:ext cx="2386584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RAG, memória, agentes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041898" y="3278124"/>
            <a:ext cx="2626614" cy="72009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6048756" y="3291840"/>
            <a:ext cx="2612898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151626" y="3367278"/>
            <a:ext cx="238658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A746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3A746"/>
                </a:solidFill>
                <a:latin typeface="Arial"/>
                <a:ea typeface="Arial"/>
                <a:cs typeface="Arial"/>
                <a:sym typeface="Arial"/>
              </a:rPr>
              <a:t>CONTROLES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6151626" y="3566160"/>
            <a:ext cx="2386584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avaliação, schemas, permissões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514350" y="4224528"/>
            <a:ext cx="81610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 solução real combina componentes; não basta escolher o modelo “mais poderoso”.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03 / RAG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RAG: responder com evidências recuperadas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RAG combina recuperação de contexto com geração; não atualiza os pesos do LLM.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19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19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52628" y="1611630"/>
            <a:ext cx="1248156" cy="905256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459486" y="1625346"/>
            <a:ext cx="1234440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34924" y="1700784"/>
            <a:ext cx="10835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Pergunta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541782" y="1954530"/>
            <a:ext cx="106984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intenção + consulta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2091690" y="1611630"/>
            <a:ext cx="1248156" cy="905256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2098548" y="1625346"/>
            <a:ext cx="1234440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2173986" y="1700784"/>
            <a:ext cx="10835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Retriever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2180844" y="1954530"/>
            <a:ext cx="106984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busca lexical / vetorial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3730752" y="1611630"/>
            <a:ext cx="1248156" cy="905256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3737610" y="1625346"/>
            <a:ext cx="1234440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3813048" y="1700784"/>
            <a:ext cx="10835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3819906" y="1954530"/>
            <a:ext cx="106984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trechos candidatos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369814" y="1611630"/>
            <a:ext cx="1248156" cy="905256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376672" y="1625346"/>
            <a:ext cx="1234440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452110" y="1700784"/>
            <a:ext cx="10835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Generator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5458968" y="1954530"/>
            <a:ext cx="106984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LLM condicionado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7008876" y="1611630"/>
            <a:ext cx="1248156" cy="905256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7015734" y="1625346"/>
            <a:ext cx="1234440" cy="37719"/>
          </a:xfrm>
          <a:prstGeom prst="rect">
            <a:avLst/>
          </a:prstGeom>
          <a:solidFill>
            <a:srgbClr val="289B77"/>
          </a:solidFill>
          <a:ln cap="flat" cmpd="sng" w="9525">
            <a:solidFill>
              <a:srgbClr val="289B7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7091172" y="1700784"/>
            <a:ext cx="10835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Resposta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7098030" y="1954530"/>
            <a:ext cx="106984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síntese + fontes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1735074" y="1940814"/>
            <a:ext cx="192024" cy="240030"/>
          </a:xfrm>
          <a:prstGeom prst="chevron">
            <a:avLst>
              <a:gd fmla="val 50000" name="adj"/>
            </a:avLst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3374136" y="1940814"/>
            <a:ext cx="192024" cy="240030"/>
          </a:xfrm>
          <a:prstGeom prst="chevron">
            <a:avLst>
              <a:gd fmla="val 50000" name="adj"/>
            </a:avLst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013198" y="1940814"/>
            <a:ext cx="192024" cy="240030"/>
          </a:xfrm>
          <a:prstGeom prst="chevron">
            <a:avLst>
              <a:gd fmla="val 50000" name="adj"/>
            </a:avLst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6652260" y="1940814"/>
            <a:ext cx="192024" cy="240030"/>
          </a:xfrm>
          <a:prstGeom prst="chevron">
            <a:avLst>
              <a:gd fmla="val 50000" name="adj"/>
            </a:avLst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493776" y="3003804"/>
            <a:ext cx="3950208" cy="1001268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500634" y="3017520"/>
            <a:ext cx="3936492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65226" y="3154680"/>
            <a:ext cx="33604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DF3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4F7DF3"/>
                </a:solidFill>
                <a:latin typeface="Arial"/>
                <a:ea typeface="Arial"/>
                <a:cs typeface="Arial"/>
                <a:sym typeface="Arial"/>
              </a:rPr>
              <a:t>SE O RETRIEVER FALHA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665226" y="3415284"/>
            <a:ext cx="349758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 resposta pode soar convincente, mas faltar contexto relevante.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4663440" y="3003804"/>
            <a:ext cx="3950208" cy="1001268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4670298" y="3017520"/>
            <a:ext cx="3936492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4841748" y="3154680"/>
            <a:ext cx="33604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75F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9275F7"/>
                </a:solidFill>
                <a:latin typeface="Arial"/>
                <a:ea typeface="Arial"/>
                <a:cs typeface="Arial"/>
                <a:sym typeface="Arial"/>
              </a:rPr>
              <a:t>SE O GENERATOR FALHA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4841748" y="3415284"/>
            <a:ext cx="349758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O contexto pode estar certo, mas a resposta distorce, omite ou extrapola.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534924" y="4272534"/>
            <a:ext cx="8092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100"/>
              <a:buFont typeface="Arial"/>
              <a:buNone/>
            </a:pPr>
            <a:r>
              <a:rPr b="0" i="1" lang="pt-BR" sz="11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Regra prática: preserve a rastreabilidade entre pergunta, trechos recuperados e afirmações finais.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411480" y="4738878"/>
            <a:ext cx="781812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8A95A5"/>
                </a:solidFill>
                <a:latin typeface="Arial"/>
                <a:ea typeface="Arial"/>
                <a:cs typeface="Arial"/>
                <a:sym typeface="Arial"/>
              </a:rPr>
              <a:t>Fonte: Aula 01 — Construção e avaliação de pipelines RAG.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9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03 / RAG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Como avaliar RAG quando não há gabarito?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LLM-as-a-Judge permite estimar qualidade sem referência humana por pergunta — com limitações.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20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20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66344" y="1323594"/>
            <a:ext cx="2619756" cy="939546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473202" y="1337310"/>
            <a:ext cx="2606040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596646" y="1460754"/>
            <a:ext cx="390906" cy="363474"/>
          </a:xfrm>
          <a:prstGeom prst="roundRect">
            <a:avLst>
              <a:gd fmla="val 16667" name="adj"/>
            </a:avLst>
          </a:prstGeom>
          <a:solidFill>
            <a:srgbClr val="E7EEFF"/>
          </a:solidFill>
          <a:ln cap="flat" cmpd="sng" w="9525">
            <a:solidFill>
              <a:srgbClr val="E7EE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596646" y="1460754"/>
            <a:ext cx="390906" cy="363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F3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4F7DF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1097280" y="1447038"/>
            <a:ext cx="1796796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Fidelidade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1097280" y="1693926"/>
            <a:ext cx="1824228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A resposta é sustentada pelo contexto?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3257550" y="1323594"/>
            <a:ext cx="2619756" cy="939546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3264408" y="1337310"/>
            <a:ext cx="2606040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3387852" y="1460754"/>
            <a:ext cx="390906" cy="363474"/>
          </a:xfrm>
          <a:prstGeom prst="roundRect">
            <a:avLst>
              <a:gd fmla="val 16667" name="adj"/>
            </a:avLst>
          </a:prstGeom>
          <a:solidFill>
            <a:srgbClr val="EEE8FF"/>
          </a:solidFill>
          <a:ln cap="flat" cmpd="sng" w="9525">
            <a:solidFill>
              <a:srgbClr val="EEE8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3387852" y="1460754"/>
            <a:ext cx="390906" cy="363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75F7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9275F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3888486" y="1447038"/>
            <a:ext cx="1796796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Relevância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3888486" y="1693926"/>
            <a:ext cx="1824228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Ela responde ao que foi perguntado?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048756" y="1323594"/>
            <a:ext cx="2619756" cy="939546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6055614" y="1337310"/>
            <a:ext cx="2606040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6179058" y="1460754"/>
            <a:ext cx="390906" cy="363474"/>
          </a:xfrm>
          <a:prstGeom prst="roundRect">
            <a:avLst>
              <a:gd fmla="val 16667" name="adj"/>
            </a:avLst>
          </a:prstGeom>
          <a:solidFill>
            <a:srgbClr val="DDF8F3"/>
          </a:solidFill>
          <a:ln cap="flat" cmpd="sng" w="9525">
            <a:solidFill>
              <a:srgbClr val="DDF8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179058" y="1460754"/>
            <a:ext cx="390906" cy="363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6679692" y="1447038"/>
            <a:ext cx="1796796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Uso do contexto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6679692" y="1693926"/>
            <a:ext cx="1824228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A evidência recuperada foi aproveitada?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66344" y="2434590"/>
            <a:ext cx="2619756" cy="939546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473202" y="2448306"/>
            <a:ext cx="2606040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596646" y="2571750"/>
            <a:ext cx="390906" cy="363474"/>
          </a:xfrm>
          <a:prstGeom prst="roundRect">
            <a:avLst>
              <a:gd fmla="val 16667" name="adj"/>
            </a:avLst>
          </a:prstGeom>
          <a:solidFill>
            <a:srgbClr val="FFF1DB"/>
          </a:solidFill>
          <a:ln cap="flat" cmpd="sng" w="9525">
            <a:solidFill>
              <a:srgbClr val="FFF1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596646" y="2571750"/>
            <a:ext cx="390906" cy="363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A746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3A74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1097280" y="2558034"/>
            <a:ext cx="1796796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Precisão do contexto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1097280" y="2804922"/>
            <a:ext cx="1824228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Os trechos mais úteis aparecem no topo?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3257550" y="2434590"/>
            <a:ext cx="2619756" cy="939546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3264408" y="2448306"/>
            <a:ext cx="2606040" cy="37719"/>
          </a:xfrm>
          <a:prstGeom prst="rect">
            <a:avLst/>
          </a:prstGeom>
          <a:solidFill>
            <a:srgbClr val="289B77"/>
          </a:solidFill>
          <a:ln cap="flat" cmpd="sng" w="9525">
            <a:solidFill>
              <a:srgbClr val="289B7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3387852" y="2571750"/>
            <a:ext cx="390906" cy="363474"/>
          </a:xfrm>
          <a:prstGeom prst="roundRect">
            <a:avLst>
              <a:gd fmla="val 16667" name="adj"/>
            </a:avLst>
          </a:prstGeom>
          <a:solidFill>
            <a:srgbClr val="DDF6EC"/>
          </a:solidFill>
          <a:ln cap="flat" cmpd="sng" w="9525">
            <a:solidFill>
              <a:srgbClr val="DDF6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3387852" y="2571750"/>
            <a:ext cx="390906" cy="363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9B77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289B7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3888486" y="2558034"/>
            <a:ext cx="1796796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Cobertura do contexto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3888486" y="2804922"/>
            <a:ext cx="1824228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Há informação suficiente para responder?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6048756" y="2434590"/>
            <a:ext cx="2619756" cy="939546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6055614" y="2448306"/>
            <a:ext cx="2606040" cy="37719"/>
          </a:xfrm>
          <a:prstGeom prst="rect">
            <a:avLst/>
          </a:prstGeom>
          <a:solidFill>
            <a:srgbClr val="E76565"/>
          </a:solidFill>
          <a:ln cap="flat" cmpd="sng" w="9525">
            <a:solidFill>
              <a:srgbClr val="E7656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6179058" y="2571750"/>
            <a:ext cx="390906" cy="363474"/>
          </a:xfrm>
          <a:prstGeom prst="roundRect">
            <a:avLst>
              <a:gd fmla="val 16667" name="adj"/>
            </a:avLst>
          </a:prstGeom>
          <a:solidFill>
            <a:srgbClr val="FDE8E8"/>
          </a:solidFill>
          <a:ln cap="flat" cmpd="sng" w="9525">
            <a:solidFill>
              <a:srgbClr val="FDE8E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6179058" y="2571750"/>
            <a:ext cx="390906" cy="363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565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E7656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6679692" y="2558034"/>
            <a:ext cx="1796796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Foco e ruído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6679692" y="2804922"/>
            <a:ext cx="1824228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Evita digressões e conteúdo desnecessário?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493776" y="3648456"/>
            <a:ext cx="8161020" cy="534924"/>
          </a:xfrm>
          <a:prstGeom prst="roundRect">
            <a:avLst>
              <a:gd fmla="val 16667" name="adj"/>
            </a:avLst>
          </a:prstGeom>
          <a:solidFill>
            <a:srgbClr val="142238"/>
          </a:solidFill>
          <a:ln cap="flat" cmpd="sng" w="9525">
            <a:solidFill>
              <a:srgbClr val="14223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658368" y="3785616"/>
            <a:ext cx="68580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A746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F3A746"/>
                </a:solidFill>
                <a:latin typeface="Arial"/>
                <a:ea typeface="Arial"/>
                <a:cs typeface="Arial"/>
                <a:sym typeface="Arial"/>
              </a:rPr>
              <a:t>Cuidado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1385316" y="3751326"/>
            <a:ext cx="696087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juiz também erra: valide critérios, compare amostras com revisão humana e monitore tendências.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411480" y="4738878"/>
            <a:ext cx="781812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8A95A5"/>
                </a:solidFill>
                <a:latin typeface="Arial"/>
                <a:ea typeface="Arial"/>
                <a:cs typeface="Arial"/>
                <a:sym typeface="Arial"/>
              </a:rPr>
              <a:t>Fonte: Aula 01 — LLM-as-a-Judge, métricas RAGAS e diagnóstico de pipeline.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0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03 / RAG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Métricas servem para diagnosticar — não só ranquear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Combine sinais de recuperação e geração para localizar onde a qualidade se perde.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21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21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493776" y="1344168"/>
            <a:ext cx="2592324" cy="336042"/>
          </a:xfrm>
          <a:prstGeom prst="roundRect">
            <a:avLst>
              <a:gd fmla="val 16667" name="adj"/>
            </a:avLst>
          </a:prstGeom>
          <a:solidFill>
            <a:srgbClr val="142238"/>
          </a:solidFill>
          <a:ln cap="flat" cmpd="sng" w="9525">
            <a:solidFill>
              <a:srgbClr val="14223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17220" y="1412748"/>
            <a:ext cx="23454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3168396" y="1344168"/>
            <a:ext cx="2592324" cy="336042"/>
          </a:xfrm>
          <a:prstGeom prst="roundRect">
            <a:avLst>
              <a:gd fmla="val 16667" name="adj"/>
            </a:avLst>
          </a:prstGeom>
          <a:solidFill>
            <a:srgbClr val="142238"/>
          </a:solidFill>
          <a:ln cap="flat" cmpd="sng" w="9525">
            <a:solidFill>
              <a:srgbClr val="14223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3291840" y="1412748"/>
            <a:ext cx="23454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HIPÓTESE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5843016" y="1344168"/>
            <a:ext cx="2592324" cy="336042"/>
          </a:xfrm>
          <a:prstGeom prst="roundRect">
            <a:avLst>
              <a:gd fmla="val 16667" name="adj"/>
            </a:avLst>
          </a:prstGeom>
          <a:solidFill>
            <a:srgbClr val="142238"/>
          </a:solidFill>
          <a:ln cap="flat" cmpd="sng" w="9525">
            <a:solidFill>
              <a:srgbClr val="14223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5966460" y="1412748"/>
            <a:ext cx="23454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PRÓXIMO TESTE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493776" y="1783080"/>
            <a:ext cx="2592324" cy="528066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500634" y="1796796"/>
            <a:ext cx="2578608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3168396" y="1783080"/>
            <a:ext cx="2592324" cy="528066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5843016" y="1783080"/>
            <a:ext cx="2592324" cy="528066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610362" y="1858518"/>
            <a:ext cx="237972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Contexto irrelevante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3284982" y="1858518"/>
            <a:ext cx="2379726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Consulta ou ranking não recupera o essencial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5959602" y="1858518"/>
            <a:ext cx="2379726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Revisar chunking, filtros, query e reranking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493776" y="2448306"/>
            <a:ext cx="2592324" cy="528066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1"/>
          <p:cNvSpPr/>
          <p:nvPr/>
        </p:nvSpPr>
        <p:spPr>
          <a:xfrm>
            <a:off x="500634" y="2462022"/>
            <a:ext cx="2578608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3168396" y="2448306"/>
            <a:ext cx="2592324" cy="528066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5843016" y="2448306"/>
            <a:ext cx="2592324" cy="528066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610362" y="2523744"/>
            <a:ext cx="237972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Contexto incompleto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3284982" y="2523744"/>
            <a:ext cx="2379726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Retrieval não cobre a evidência necessária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5959602" y="2523744"/>
            <a:ext cx="2379726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Aumentar cobertura; medir recall e fontes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493776" y="3113532"/>
            <a:ext cx="2592324" cy="528066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500634" y="3127248"/>
            <a:ext cx="2578608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3168396" y="3113532"/>
            <a:ext cx="2592324" cy="528066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5843016" y="3113532"/>
            <a:ext cx="2592324" cy="528066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610362" y="3188970"/>
            <a:ext cx="237972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Resposta não sustentada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3284982" y="3188970"/>
            <a:ext cx="2379726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Generator extrapola além dos trechos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5959602" y="3188970"/>
            <a:ext cx="2379726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Reforçar instrução de grounding e citar evidência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493776" y="3778758"/>
            <a:ext cx="2592324" cy="528066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500634" y="3792474"/>
            <a:ext cx="2578608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3168396" y="3778758"/>
            <a:ext cx="2592324" cy="528066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5843016" y="3778758"/>
            <a:ext cx="2592324" cy="528066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610362" y="3854196"/>
            <a:ext cx="237972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Resposta correta, mas pouco útil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3284982" y="3854196"/>
            <a:ext cx="2379726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Relevância, concisão ou formato inadequados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5959602" y="3854196"/>
            <a:ext cx="2379726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Ajustar pergunta, template e critérios de resposta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534924" y="4293108"/>
            <a:ext cx="7955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Não melhore o prompt antes de verificar se o contexto certo chegou ao modelo.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1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04 / MODELOS GENERATIVOS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Autoencoder: comprimir para reconstruir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2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Aprende uma representação interna que preserva informação útil da entrada.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22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22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651510" y="1693926"/>
            <a:ext cx="1611630" cy="932688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658368" y="1707642"/>
            <a:ext cx="1597914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2"/>
          <p:cNvSpPr txBox="1"/>
          <p:nvPr/>
        </p:nvSpPr>
        <p:spPr>
          <a:xfrm>
            <a:off x="733806" y="1783080"/>
            <a:ext cx="14470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Entrada 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740664" y="2036826"/>
            <a:ext cx="1433322" cy="541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sinal / imagem / vetor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2846070" y="1693926"/>
            <a:ext cx="1543050" cy="932688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2852928" y="1707642"/>
            <a:ext cx="1529334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2"/>
          <p:cNvSpPr txBox="1"/>
          <p:nvPr/>
        </p:nvSpPr>
        <p:spPr>
          <a:xfrm>
            <a:off x="2928366" y="1783080"/>
            <a:ext cx="13784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Encoder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2935224" y="2036826"/>
            <a:ext cx="1364742" cy="541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x → z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4876038" y="1693926"/>
            <a:ext cx="1268730" cy="932688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4882896" y="1707642"/>
            <a:ext cx="1255014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4958334" y="1783080"/>
            <a:ext cx="11041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Latente z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4965192" y="2036826"/>
            <a:ext cx="1090422" cy="541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representação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6617970" y="1693926"/>
            <a:ext cx="1632204" cy="932688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2"/>
          <p:cNvSpPr/>
          <p:nvPr/>
        </p:nvSpPr>
        <p:spPr>
          <a:xfrm>
            <a:off x="6624828" y="1707642"/>
            <a:ext cx="1618488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6700266" y="1783080"/>
            <a:ext cx="14676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Decoder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6707124" y="2036826"/>
            <a:ext cx="1453896" cy="541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z → x̂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2386584" y="2036826"/>
            <a:ext cx="219456" cy="240030"/>
          </a:xfrm>
          <a:prstGeom prst="chevron">
            <a:avLst>
              <a:gd fmla="val 50000" name="adj"/>
            </a:avLst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4505706" y="2036826"/>
            <a:ext cx="219456" cy="240030"/>
          </a:xfrm>
          <a:prstGeom prst="chevron">
            <a:avLst>
              <a:gd fmla="val 50000" name="adj"/>
            </a:avLst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>
            <a:off x="6275070" y="2036826"/>
            <a:ext cx="219456" cy="240030"/>
          </a:xfrm>
          <a:prstGeom prst="chevron">
            <a:avLst>
              <a:gd fmla="val 50000" name="adj"/>
            </a:avLst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699516" y="3072384"/>
            <a:ext cx="3600450" cy="809244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2"/>
          <p:cNvSpPr/>
          <p:nvPr/>
        </p:nvSpPr>
        <p:spPr>
          <a:xfrm>
            <a:off x="706374" y="3086100"/>
            <a:ext cx="3586734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877824" y="3195828"/>
            <a:ext cx="92583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DF3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4F7DF3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877824" y="3422142"/>
            <a:ext cx="30861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Minimizar erro de reconstrução: x̂ ≈ 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4622292" y="3072384"/>
            <a:ext cx="3600450" cy="809244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>
            <a:off x="4629150" y="3086100"/>
            <a:ext cx="3586734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2"/>
          <p:cNvSpPr txBox="1"/>
          <p:nvPr/>
        </p:nvSpPr>
        <p:spPr>
          <a:xfrm>
            <a:off x="4793742" y="3195828"/>
            <a:ext cx="10972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A746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3A746"/>
                </a:solidFill>
                <a:latin typeface="Arial"/>
                <a:ea typeface="Arial"/>
                <a:cs typeface="Arial"/>
                <a:sym typeface="Arial"/>
              </a:rPr>
              <a:t>ANOMALIAS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4793742" y="3422142"/>
            <a:ext cx="31546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Erro alto pode sinalizar padrão fora do normal.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576072" y="4183380"/>
            <a:ext cx="80238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1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Um score de anomalia precisa de limiar calibrado e validação com falhas reais ou cenários representativos.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411480" y="4738878"/>
            <a:ext cx="781812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8A95A5"/>
                </a:solidFill>
                <a:latin typeface="Arial"/>
                <a:ea typeface="Arial"/>
                <a:cs typeface="Arial"/>
                <a:sym typeface="Arial"/>
              </a:rPr>
              <a:t>Fonte: Aula 03 — Detecção de anomalias com AE vs. VAE.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2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04 / MODELOS GENERATIVOS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AE vs. VAE: espaço latente determinístico ou probabilístico?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3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A principal diferença não é apenas o encoder: é a forma de representar o espaço latente.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23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23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480060" y="1323594"/>
            <a:ext cx="4018788" cy="2592324"/>
          </a:xfrm>
          <a:prstGeom prst="roundRect">
            <a:avLst>
              <a:gd fmla="val 3175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486918" y="1337310"/>
            <a:ext cx="4005072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3"/>
          <p:cNvSpPr/>
          <p:nvPr/>
        </p:nvSpPr>
        <p:spPr>
          <a:xfrm>
            <a:off x="672084" y="1495044"/>
            <a:ext cx="425196" cy="198882"/>
          </a:xfrm>
          <a:prstGeom prst="roundRect">
            <a:avLst>
              <a:gd fmla="val 16667" name="adj"/>
            </a:avLst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706374" y="1505331"/>
            <a:ext cx="3566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672084" y="1865376"/>
            <a:ext cx="3497580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Entrada → vetor latente → reconstrução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877824" y="2386584"/>
            <a:ext cx="192024" cy="192024"/>
          </a:xfrm>
          <a:prstGeom prst="ellipse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3"/>
          <p:cNvSpPr/>
          <p:nvPr/>
        </p:nvSpPr>
        <p:spPr>
          <a:xfrm>
            <a:off x="1316736" y="2386584"/>
            <a:ext cx="192024" cy="192024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1755648" y="2386584"/>
            <a:ext cx="192024" cy="192024"/>
          </a:xfrm>
          <a:prstGeom prst="ellipse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3"/>
          <p:cNvSpPr/>
          <p:nvPr/>
        </p:nvSpPr>
        <p:spPr>
          <a:xfrm>
            <a:off x="2194560" y="2386584"/>
            <a:ext cx="192024" cy="192024"/>
          </a:xfrm>
          <a:prstGeom prst="ellipse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3"/>
          <p:cNvSpPr/>
          <p:nvPr/>
        </p:nvSpPr>
        <p:spPr>
          <a:xfrm>
            <a:off x="2633472" y="2386584"/>
            <a:ext cx="192024" cy="192024"/>
          </a:xfrm>
          <a:prstGeom prst="ellipse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0" name="Google Shape;380;p23"/>
          <p:cNvCxnSpPr/>
          <p:nvPr/>
        </p:nvCxnSpPr>
        <p:spPr>
          <a:xfrm>
            <a:off x="836676" y="2482596"/>
            <a:ext cx="2352294" cy="0"/>
          </a:xfrm>
          <a:prstGeom prst="straightConnector1">
            <a:avLst/>
          </a:prstGeom>
          <a:noFill/>
          <a:ln cap="flat" cmpd="sng" w="13950">
            <a:solidFill>
              <a:srgbClr val="B2C2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23"/>
          <p:cNvSpPr/>
          <p:nvPr/>
        </p:nvSpPr>
        <p:spPr>
          <a:xfrm>
            <a:off x="713232" y="2859786"/>
            <a:ext cx="68580" cy="68580"/>
          </a:xfrm>
          <a:prstGeom prst="ellipse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 txBox="1"/>
          <p:nvPr/>
        </p:nvSpPr>
        <p:spPr>
          <a:xfrm>
            <a:off x="850392" y="2798064"/>
            <a:ext cx="336042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Representação latente determinística para uma entrada.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713232" y="3216402"/>
            <a:ext cx="68580" cy="68580"/>
          </a:xfrm>
          <a:prstGeom prst="ellipse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3"/>
          <p:cNvSpPr txBox="1"/>
          <p:nvPr/>
        </p:nvSpPr>
        <p:spPr>
          <a:xfrm>
            <a:off x="850392" y="3154680"/>
            <a:ext cx="3360420" cy="336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Útil em compressão, reconstrução e detecção de anomalias.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713232" y="3573018"/>
            <a:ext cx="68580" cy="68580"/>
          </a:xfrm>
          <a:prstGeom prst="ellipse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3"/>
          <p:cNvSpPr txBox="1"/>
          <p:nvPr/>
        </p:nvSpPr>
        <p:spPr>
          <a:xfrm>
            <a:off x="850392" y="3511296"/>
            <a:ext cx="3360420" cy="294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Não define, por si só, um mecanismo explícito de amostragem contínua.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4649724" y="1323594"/>
            <a:ext cx="4018788" cy="2592324"/>
          </a:xfrm>
          <a:prstGeom prst="roundRect">
            <a:avLst>
              <a:gd fmla="val 3175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3"/>
          <p:cNvSpPr/>
          <p:nvPr/>
        </p:nvSpPr>
        <p:spPr>
          <a:xfrm>
            <a:off x="4656582" y="1337310"/>
            <a:ext cx="4005072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3"/>
          <p:cNvSpPr/>
          <p:nvPr/>
        </p:nvSpPr>
        <p:spPr>
          <a:xfrm>
            <a:off x="4841748" y="1495044"/>
            <a:ext cx="534924" cy="198882"/>
          </a:xfrm>
          <a:prstGeom prst="roundRect">
            <a:avLst>
              <a:gd fmla="val 16667" name="adj"/>
            </a:avLst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3"/>
          <p:cNvSpPr txBox="1"/>
          <p:nvPr/>
        </p:nvSpPr>
        <p:spPr>
          <a:xfrm>
            <a:off x="4876038" y="1505331"/>
            <a:ext cx="4663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3"/>
          <p:cNvSpPr txBox="1"/>
          <p:nvPr/>
        </p:nvSpPr>
        <p:spPr>
          <a:xfrm>
            <a:off x="4841748" y="1865376"/>
            <a:ext cx="35112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Entrada → distribuição latente → amostra → reconstrução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23"/>
          <p:cNvCxnSpPr/>
          <p:nvPr/>
        </p:nvCxnSpPr>
        <p:spPr>
          <a:xfrm>
            <a:off x="5033772" y="2626614"/>
            <a:ext cx="3168396" cy="0"/>
          </a:xfrm>
          <a:prstGeom prst="straightConnector1">
            <a:avLst/>
          </a:prstGeom>
          <a:noFill/>
          <a:ln cap="flat" cmpd="sng" w="13950">
            <a:solidFill>
              <a:srgbClr val="B2C2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p23"/>
          <p:cNvCxnSpPr/>
          <p:nvPr/>
        </p:nvCxnSpPr>
        <p:spPr>
          <a:xfrm>
            <a:off x="5177790" y="2359152"/>
            <a:ext cx="0" cy="493776"/>
          </a:xfrm>
          <a:prstGeom prst="straightConnector1">
            <a:avLst/>
          </a:prstGeom>
          <a:noFill/>
          <a:ln cap="flat" cmpd="sng" w="13950">
            <a:solidFill>
              <a:srgbClr val="B2C2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23"/>
          <p:cNvCxnSpPr/>
          <p:nvPr/>
        </p:nvCxnSpPr>
        <p:spPr>
          <a:xfrm flipH="1" rot="10800000">
            <a:off x="5225796" y="2585466"/>
            <a:ext cx="294894" cy="34290"/>
          </a:xfrm>
          <a:prstGeom prst="straightConnector1">
            <a:avLst/>
          </a:prstGeom>
          <a:noFill/>
          <a:ln cap="flat" cmpd="sng" w="27925">
            <a:solidFill>
              <a:srgbClr val="9275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23"/>
          <p:cNvCxnSpPr/>
          <p:nvPr/>
        </p:nvCxnSpPr>
        <p:spPr>
          <a:xfrm flipH="1" rot="10800000">
            <a:off x="5520690" y="2462022"/>
            <a:ext cx="274320" cy="123444"/>
          </a:xfrm>
          <a:prstGeom prst="straightConnector1">
            <a:avLst/>
          </a:prstGeom>
          <a:noFill/>
          <a:ln cap="flat" cmpd="sng" w="27925">
            <a:solidFill>
              <a:srgbClr val="9275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23"/>
          <p:cNvCxnSpPr/>
          <p:nvPr/>
        </p:nvCxnSpPr>
        <p:spPr>
          <a:xfrm flipH="1" rot="10800000">
            <a:off x="5795010" y="2290572"/>
            <a:ext cx="253746" cy="171450"/>
          </a:xfrm>
          <a:prstGeom prst="straightConnector1">
            <a:avLst/>
          </a:prstGeom>
          <a:noFill/>
          <a:ln cap="flat" cmpd="sng" w="27925">
            <a:solidFill>
              <a:srgbClr val="9275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23"/>
          <p:cNvCxnSpPr/>
          <p:nvPr/>
        </p:nvCxnSpPr>
        <p:spPr>
          <a:xfrm flipH="1" rot="10800000">
            <a:off x="6048756" y="2235708"/>
            <a:ext cx="246888" cy="54864"/>
          </a:xfrm>
          <a:prstGeom prst="straightConnector1">
            <a:avLst/>
          </a:prstGeom>
          <a:noFill/>
          <a:ln cap="flat" cmpd="sng" w="27925">
            <a:solidFill>
              <a:srgbClr val="9275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23"/>
          <p:cNvCxnSpPr/>
          <p:nvPr/>
        </p:nvCxnSpPr>
        <p:spPr>
          <a:xfrm>
            <a:off x="6295644" y="2235708"/>
            <a:ext cx="246888" cy="68580"/>
          </a:xfrm>
          <a:prstGeom prst="straightConnector1">
            <a:avLst/>
          </a:prstGeom>
          <a:noFill/>
          <a:ln cap="flat" cmpd="sng" w="27925">
            <a:solidFill>
              <a:srgbClr val="9275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23"/>
          <p:cNvCxnSpPr/>
          <p:nvPr/>
        </p:nvCxnSpPr>
        <p:spPr>
          <a:xfrm>
            <a:off x="6542532" y="2304288"/>
            <a:ext cx="246888" cy="171450"/>
          </a:xfrm>
          <a:prstGeom prst="straightConnector1">
            <a:avLst/>
          </a:prstGeom>
          <a:noFill/>
          <a:ln cap="flat" cmpd="sng" w="27925">
            <a:solidFill>
              <a:srgbClr val="9275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23"/>
          <p:cNvCxnSpPr/>
          <p:nvPr/>
        </p:nvCxnSpPr>
        <p:spPr>
          <a:xfrm>
            <a:off x="6789420" y="2475738"/>
            <a:ext cx="260604" cy="116586"/>
          </a:xfrm>
          <a:prstGeom prst="straightConnector1">
            <a:avLst/>
          </a:prstGeom>
          <a:noFill/>
          <a:ln cap="flat" cmpd="sng" w="27925">
            <a:solidFill>
              <a:srgbClr val="9275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23"/>
          <p:cNvCxnSpPr/>
          <p:nvPr/>
        </p:nvCxnSpPr>
        <p:spPr>
          <a:xfrm>
            <a:off x="7050024" y="2592324"/>
            <a:ext cx="288036" cy="27432"/>
          </a:xfrm>
          <a:prstGeom prst="straightConnector1">
            <a:avLst/>
          </a:prstGeom>
          <a:noFill/>
          <a:ln cap="flat" cmpd="sng" w="27925">
            <a:solidFill>
              <a:srgbClr val="9275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23"/>
          <p:cNvSpPr/>
          <p:nvPr/>
        </p:nvSpPr>
        <p:spPr>
          <a:xfrm>
            <a:off x="4882896" y="3044952"/>
            <a:ext cx="68580" cy="68580"/>
          </a:xfrm>
          <a:prstGeom prst="ellipse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3"/>
          <p:cNvSpPr txBox="1"/>
          <p:nvPr/>
        </p:nvSpPr>
        <p:spPr>
          <a:xfrm>
            <a:off x="5020056" y="2983230"/>
            <a:ext cx="336042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Aprende parâmetros de uma distribuição no espaço latente.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4882896" y="3374136"/>
            <a:ext cx="68580" cy="68580"/>
          </a:xfrm>
          <a:prstGeom prst="ellipse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"/>
          <p:cNvSpPr txBox="1"/>
          <p:nvPr/>
        </p:nvSpPr>
        <p:spPr>
          <a:xfrm>
            <a:off x="5020056" y="3312414"/>
            <a:ext cx="336042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 perda combina reconstrução + regularização (KL).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4882896" y="3696462"/>
            <a:ext cx="68580" cy="68580"/>
          </a:xfrm>
          <a:prstGeom prst="ellipse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"/>
          <p:cNvSpPr txBox="1"/>
          <p:nvPr/>
        </p:nvSpPr>
        <p:spPr>
          <a:xfrm>
            <a:off x="5020056" y="3634740"/>
            <a:ext cx="33604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 estrutura probabilística facilita amostragem e geração.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3"/>
          <p:cNvSpPr txBox="1"/>
          <p:nvPr/>
        </p:nvSpPr>
        <p:spPr>
          <a:xfrm>
            <a:off x="534924" y="4149090"/>
            <a:ext cx="81610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1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Trade-off: representação organizada e amostragem consistente, mas amostras podem parecer mais suaves que as de GANs.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3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4"/>
          <p:cNvSpPr/>
          <p:nvPr/>
        </p:nvSpPr>
        <p:spPr>
          <a:xfrm>
            <a:off x="4409630" y="2687984"/>
            <a:ext cx="4241700" cy="539100"/>
          </a:xfrm>
          <a:prstGeom prst="roundRect">
            <a:avLst>
              <a:gd fmla="val 1142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36925" lIns="73900" spcFirstLastPara="1" rIns="73900" wrap="square" tIns="3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4409630" y="2687984"/>
            <a:ext cx="30900" cy="539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36925" lIns="73900" spcFirstLastPara="1" rIns="73900" wrap="square" tIns="3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6" name="Google Shape;4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7025" y="944327"/>
            <a:ext cx="4257138" cy="2771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30" y="952026"/>
            <a:ext cx="4241742" cy="2755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4254" y="2441640"/>
            <a:ext cx="100077" cy="923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9379" y="1487055"/>
            <a:ext cx="100077" cy="923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64292" y="1964347"/>
            <a:ext cx="100077" cy="92379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4"/>
          <p:cNvSpPr txBox="1"/>
          <p:nvPr/>
        </p:nvSpPr>
        <p:spPr>
          <a:xfrm>
            <a:off x="4409630" y="1433167"/>
            <a:ext cx="43188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91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Gerador ( ):</a:t>
            </a:r>
            <a:r>
              <a:rPr b="0" i="0" lang="pt-BR" sz="1091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Transforma ruído aleatório em dados sintéticos fidedignos.</a:t>
            </a:r>
            <a:endParaRPr sz="1132"/>
          </a:p>
        </p:txBody>
      </p:sp>
      <p:sp>
        <p:nvSpPr>
          <p:cNvPr id="422" name="Google Shape;422;p24"/>
          <p:cNvSpPr txBox="1"/>
          <p:nvPr/>
        </p:nvSpPr>
        <p:spPr>
          <a:xfrm>
            <a:off x="4409630" y="1910460"/>
            <a:ext cx="43188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91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Discriminador ( ):</a:t>
            </a:r>
            <a:r>
              <a:rPr b="0" i="0" lang="pt-BR" sz="1091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Classificador binário que diferencia dados reais de falsos.</a:t>
            </a:r>
            <a:endParaRPr sz="1132"/>
          </a:p>
        </p:txBody>
      </p:sp>
      <p:sp>
        <p:nvSpPr>
          <p:cNvPr id="423" name="Google Shape;423;p24"/>
          <p:cNvSpPr txBox="1"/>
          <p:nvPr/>
        </p:nvSpPr>
        <p:spPr>
          <a:xfrm>
            <a:off x="4409630" y="2387752"/>
            <a:ext cx="47343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91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Jogo Minimax:</a:t>
            </a:r>
            <a:r>
              <a:rPr b="0" i="0" lang="pt-BR" sz="1091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Otimização concorrente onde tenta enganar .</a:t>
            </a:r>
            <a:endParaRPr sz="1132"/>
          </a:p>
        </p:txBody>
      </p:sp>
      <p:sp>
        <p:nvSpPr>
          <p:cNvPr id="424" name="Google Shape;424;p24"/>
          <p:cNvSpPr txBox="1"/>
          <p:nvPr/>
        </p:nvSpPr>
        <p:spPr>
          <a:xfrm>
            <a:off x="4563595" y="2811156"/>
            <a:ext cx="40416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9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Desafio Clássico:</a:t>
            </a:r>
            <a:r>
              <a:rPr b="0" i="0" lang="pt-BR" sz="909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Colapso de Modo (Mode Collapse) e estabilidade de gradientes.</a:t>
            </a:r>
            <a:endParaRPr sz="1132"/>
          </a:p>
        </p:txBody>
      </p:sp>
      <p:sp>
        <p:nvSpPr>
          <p:cNvPr id="425" name="Google Shape;425;p24"/>
          <p:cNvSpPr txBox="1"/>
          <p:nvPr/>
        </p:nvSpPr>
        <p:spPr>
          <a:xfrm>
            <a:off x="397764" y="198882"/>
            <a:ext cx="301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04 / MODELOS GENERATIVOS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4"/>
          <p:cNvSpPr txBox="1"/>
          <p:nvPr/>
        </p:nvSpPr>
        <p:spPr>
          <a:xfrm>
            <a:off x="397764" y="384048"/>
            <a:ext cx="82983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GAN: aprender por competição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4"/>
          <p:cNvSpPr txBox="1"/>
          <p:nvPr/>
        </p:nvSpPr>
        <p:spPr>
          <a:xfrm>
            <a:off x="411480" y="809244"/>
            <a:ext cx="82296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Gerador tenta produzir amostras plausíveis; discriminador tenta distinguir reais de falsas.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"/>
          <p:cNvSpPr/>
          <p:nvPr/>
        </p:nvSpPr>
        <p:spPr>
          <a:xfrm>
            <a:off x="0" y="0"/>
            <a:ext cx="9143700" cy="6870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5"/>
          <p:cNvSpPr txBox="1"/>
          <p:nvPr/>
        </p:nvSpPr>
        <p:spPr>
          <a:xfrm>
            <a:off x="397764" y="198882"/>
            <a:ext cx="301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04 / MODELOS GENERATIVOS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397764" y="384048"/>
            <a:ext cx="82983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Diffusion: gerar removendo ruído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411480" y="809244"/>
            <a:ext cx="82296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Treina-se a rede para reverter gradualmente um processo de corrupção por ruído.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25"/>
          <p:cNvCxnSpPr/>
          <p:nvPr/>
        </p:nvCxnSpPr>
        <p:spPr>
          <a:xfrm>
            <a:off x="397764" y="1083564"/>
            <a:ext cx="8352900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25"/>
          <p:cNvSpPr txBox="1"/>
          <p:nvPr/>
        </p:nvSpPr>
        <p:spPr>
          <a:xfrm>
            <a:off x="8366760" y="4917186"/>
            <a:ext cx="3771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5"/>
          <p:cNvSpPr txBox="1"/>
          <p:nvPr>
            <p:ph idx="4294967295" type="sldNum"/>
          </p:nvPr>
        </p:nvSpPr>
        <p:spPr>
          <a:xfrm>
            <a:off x="8435340" y="4903470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775" y="1124794"/>
            <a:ext cx="7440138" cy="3796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6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6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04 / MODELOS GENERATIVOS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6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Diffusion: gerar removendo ruído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6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Treina-se a rede para reverter gradualmente um processo de corrupção por ruído.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26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26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6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588" y="1069866"/>
            <a:ext cx="7129386" cy="3796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7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7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04 / MODELOS GENERATIVOS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7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Qual família de modelos usar?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7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A técnica deve vir do objetivo e da restrição — não da popularidade do modelo.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p27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p27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480060" y="1337310"/>
            <a:ext cx="1591056" cy="315468"/>
          </a:xfrm>
          <a:prstGeom prst="roundRect">
            <a:avLst>
              <a:gd fmla="val 16667" name="adj"/>
            </a:avLst>
          </a:prstGeom>
          <a:solidFill>
            <a:srgbClr val="142238"/>
          </a:solidFill>
          <a:ln cap="flat" cmpd="sng" w="9525">
            <a:solidFill>
              <a:srgbClr val="14223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7"/>
          <p:cNvSpPr txBox="1"/>
          <p:nvPr/>
        </p:nvSpPr>
        <p:spPr>
          <a:xfrm>
            <a:off x="548640" y="1412748"/>
            <a:ext cx="1453896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2180844" y="1337310"/>
            <a:ext cx="1522476" cy="315468"/>
          </a:xfrm>
          <a:prstGeom prst="roundRect">
            <a:avLst>
              <a:gd fmla="val 16667" name="adj"/>
            </a:avLst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7"/>
          <p:cNvSpPr txBox="1"/>
          <p:nvPr/>
        </p:nvSpPr>
        <p:spPr>
          <a:xfrm>
            <a:off x="2249424" y="1412748"/>
            <a:ext cx="1385316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AE / VAE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7"/>
          <p:cNvSpPr/>
          <p:nvPr/>
        </p:nvSpPr>
        <p:spPr>
          <a:xfrm>
            <a:off x="3819906" y="1337310"/>
            <a:ext cx="1522476" cy="315468"/>
          </a:xfrm>
          <a:prstGeom prst="roundRect">
            <a:avLst>
              <a:gd fmla="val 16667" name="adj"/>
            </a:avLst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7"/>
          <p:cNvSpPr txBox="1"/>
          <p:nvPr/>
        </p:nvSpPr>
        <p:spPr>
          <a:xfrm>
            <a:off x="3888486" y="1412748"/>
            <a:ext cx="1385316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7"/>
          <p:cNvSpPr/>
          <p:nvPr/>
        </p:nvSpPr>
        <p:spPr>
          <a:xfrm>
            <a:off x="5458968" y="1337310"/>
            <a:ext cx="1522476" cy="315468"/>
          </a:xfrm>
          <a:prstGeom prst="roundRect">
            <a:avLst>
              <a:gd fmla="val 16667" name="adj"/>
            </a:avLst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7"/>
          <p:cNvSpPr txBox="1"/>
          <p:nvPr/>
        </p:nvSpPr>
        <p:spPr>
          <a:xfrm>
            <a:off x="5527548" y="1412748"/>
            <a:ext cx="1385316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DIFFUSION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7"/>
          <p:cNvSpPr/>
          <p:nvPr/>
        </p:nvSpPr>
        <p:spPr>
          <a:xfrm>
            <a:off x="7098030" y="1337310"/>
            <a:ext cx="1522476" cy="315468"/>
          </a:xfrm>
          <a:prstGeom prst="roundRect">
            <a:avLst>
              <a:gd fmla="val 16667" name="adj"/>
            </a:avLst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7"/>
          <p:cNvSpPr txBox="1"/>
          <p:nvPr/>
        </p:nvSpPr>
        <p:spPr>
          <a:xfrm>
            <a:off x="7166610" y="1412748"/>
            <a:ext cx="1385316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7"/>
          <p:cNvSpPr/>
          <p:nvPr/>
        </p:nvSpPr>
        <p:spPr>
          <a:xfrm>
            <a:off x="480060" y="1762506"/>
            <a:ext cx="159105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7"/>
          <p:cNvSpPr txBox="1"/>
          <p:nvPr/>
        </p:nvSpPr>
        <p:spPr>
          <a:xfrm>
            <a:off x="548640" y="1817370"/>
            <a:ext cx="1453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Reconstruir / comprimir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7"/>
          <p:cNvSpPr/>
          <p:nvPr/>
        </p:nvSpPr>
        <p:spPr>
          <a:xfrm>
            <a:off x="2180844" y="1762506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7"/>
          <p:cNvSpPr/>
          <p:nvPr/>
        </p:nvSpPr>
        <p:spPr>
          <a:xfrm>
            <a:off x="2187702" y="1776222"/>
            <a:ext cx="1508760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7"/>
          <p:cNvSpPr txBox="1"/>
          <p:nvPr/>
        </p:nvSpPr>
        <p:spPr>
          <a:xfrm>
            <a:off x="2249424" y="1817370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Forte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7"/>
          <p:cNvSpPr/>
          <p:nvPr/>
        </p:nvSpPr>
        <p:spPr>
          <a:xfrm>
            <a:off x="3819906" y="1762506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7"/>
          <p:cNvSpPr/>
          <p:nvPr/>
        </p:nvSpPr>
        <p:spPr>
          <a:xfrm>
            <a:off x="3826764" y="1776222"/>
            <a:ext cx="1508760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3888486" y="1817370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Não é foco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5458968" y="1762506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5465826" y="1776222"/>
            <a:ext cx="1508760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7"/>
          <p:cNvSpPr txBox="1"/>
          <p:nvPr/>
        </p:nvSpPr>
        <p:spPr>
          <a:xfrm>
            <a:off x="5527548" y="1817370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Não é foco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7098030" y="1762506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7104888" y="1776222"/>
            <a:ext cx="1508760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7"/>
          <p:cNvSpPr txBox="1"/>
          <p:nvPr/>
        </p:nvSpPr>
        <p:spPr>
          <a:xfrm>
            <a:off x="7166610" y="1817370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Não é foco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480060" y="2235708"/>
            <a:ext cx="159105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7"/>
          <p:cNvSpPr txBox="1"/>
          <p:nvPr/>
        </p:nvSpPr>
        <p:spPr>
          <a:xfrm>
            <a:off x="548640" y="2290572"/>
            <a:ext cx="1453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Modelar espaço latente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7"/>
          <p:cNvSpPr/>
          <p:nvPr/>
        </p:nvSpPr>
        <p:spPr>
          <a:xfrm>
            <a:off x="2180844" y="2235708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7"/>
          <p:cNvSpPr/>
          <p:nvPr/>
        </p:nvSpPr>
        <p:spPr>
          <a:xfrm>
            <a:off x="2187702" y="2249424"/>
            <a:ext cx="1508760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7"/>
          <p:cNvSpPr txBox="1"/>
          <p:nvPr/>
        </p:nvSpPr>
        <p:spPr>
          <a:xfrm>
            <a:off x="2249424" y="2290572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Forte no VAE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3819906" y="2235708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7"/>
          <p:cNvSpPr/>
          <p:nvPr/>
        </p:nvSpPr>
        <p:spPr>
          <a:xfrm>
            <a:off x="3826764" y="2249424"/>
            <a:ext cx="1508760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7"/>
          <p:cNvSpPr txBox="1"/>
          <p:nvPr/>
        </p:nvSpPr>
        <p:spPr>
          <a:xfrm>
            <a:off x="3888486" y="2290572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Possível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5458968" y="2235708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7"/>
          <p:cNvSpPr/>
          <p:nvPr/>
        </p:nvSpPr>
        <p:spPr>
          <a:xfrm>
            <a:off x="5465826" y="2249424"/>
            <a:ext cx="1508760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7"/>
          <p:cNvSpPr txBox="1"/>
          <p:nvPr/>
        </p:nvSpPr>
        <p:spPr>
          <a:xfrm>
            <a:off x="5527548" y="2290572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Possível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7"/>
          <p:cNvSpPr/>
          <p:nvPr/>
        </p:nvSpPr>
        <p:spPr>
          <a:xfrm>
            <a:off x="7098030" y="2235708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7104888" y="2249424"/>
            <a:ext cx="1508760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7"/>
          <p:cNvSpPr txBox="1"/>
          <p:nvPr/>
        </p:nvSpPr>
        <p:spPr>
          <a:xfrm>
            <a:off x="7166610" y="2290572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Não é foco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480060" y="2708910"/>
            <a:ext cx="159105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7"/>
          <p:cNvSpPr txBox="1"/>
          <p:nvPr/>
        </p:nvSpPr>
        <p:spPr>
          <a:xfrm>
            <a:off x="548640" y="2763774"/>
            <a:ext cx="1453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Gerar imagens realistas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2180844" y="2708910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2187702" y="2722626"/>
            <a:ext cx="1508760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7"/>
          <p:cNvSpPr txBox="1"/>
          <p:nvPr/>
        </p:nvSpPr>
        <p:spPr>
          <a:xfrm>
            <a:off x="2249424" y="2763774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Limitado / suave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3819906" y="2708910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3826764" y="2722626"/>
            <a:ext cx="1508760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7"/>
          <p:cNvSpPr txBox="1"/>
          <p:nvPr/>
        </p:nvSpPr>
        <p:spPr>
          <a:xfrm>
            <a:off x="3888486" y="2763774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Alta nitidez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5458968" y="2708910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5465826" y="2722626"/>
            <a:ext cx="1508760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7"/>
          <p:cNvSpPr txBox="1"/>
          <p:nvPr/>
        </p:nvSpPr>
        <p:spPr>
          <a:xfrm>
            <a:off x="5527548" y="2763774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Alta qualidade e controle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7098030" y="2708910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7"/>
          <p:cNvSpPr/>
          <p:nvPr/>
        </p:nvSpPr>
        <p:spPr>
          <a:xfrm>
            <a:off x="7104888" y="2722626"/>
            <a:ext cx="1508760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7"/>
          <p:cNvSpPr txBox="1"/>
          <p:nvPr/>
        </p:nvSpPr>
        <p:spPr>
          <a:xfrm>
            <a:off x="7166610" y="2763774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Não gera imagem por si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7"/>
          <p:cNvSpPr/>
          <p:nvPr/>
        </p:nvSpPr>
        <p:spPr>
          <a:xfrm>
            <a:off x="480060" y="3182112"/>
            <a:ext cx="159105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7"/>
          <p:cNvSpPr txBox="1"/>
          <p:nvPr/>
        </p:nvSpPr>
        <p:spPr>
          <a:xfrm>
            <a:off x="548640" y="3236976"/>
            <a:ext cx="1453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Responder com base em docs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7"/>
          <p:cNvSpPr/>
          <p:nvPr/>
        </p:nvSpPr>
        <p:spPr>
          <a:xfrm>
            <a:off x="2180844" y="3182112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7"/>
          <p:cNvSpPr/>
          <p:nvPr/>
        </p:nvSpPr>
        <p:spPr>
          <a:xfrm>
            <a:off x="2187702" y="3195828"/>
            <a:ext cx="1508760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7"/>
          <p:cNvSpPr txBox="1"/>
          <p:nvPr/>
        </p:nvSpPr>
        <p:spPr>
          <a:xfrm>
            <a:off x="2249424" y="3236976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Não é foco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3819906" y="3182112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7"/>
          <p:cNvSpPr/>
          <p:nvPr/>
        </p:nvSpPr>
        <p:spPr>
          <a:xfrm>
            <a:off x="3826764" y="3195828"/>
            <a:ext cx="1508760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7"/>
          <p:cNvSpPr txBox="1"/>
          <p:nvPr/>
        </p:nvSpPr>
        <p:spPr>
          <a:xfrm>
            <a:off x="3888486" y="3236976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Não é foco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5458968" y="3182112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7"/>
          <p:cNvSpPr/>
          <p:nvPr/>
        </p:nvSpPr>
        <p:spPr>
          <a:xfrm>
            <a:off x="5465826" y="3195828"/>
            <a:ext cx="1508760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7"/>
          <p:cNvSpPr txBox="1"/>
          <p:nvPr/>
        </p:nvSpPr>
        <p:spPr>
          <a:xfrm>
            <a:off x="5527548" y="3236976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Não é foco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7098030" y="3182112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7104888" y="3195828"/>
            <a:ext cx="1508760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7"/>
          <p:cNvSpPr txBox="1"/>
          <p:nvPr/>
        </p:nvSpPr>
        <p:spPr>
          <a:xfrm>
            <a:off x="7166610" y="3236976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Forte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480060" y="3655314"/>
            <a:ext cx="159105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7"/>
          <p:cNvSpPr txBox="1"/>
          <p:nvPr/>
        </p:nvSpPr>
        <p:spPr>
          <a:xfrm>
            <a:off x="548640" y="3710178"/>
            <a:ext cx="1453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Conhecimento atualizado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7"/>
          <p:cNvSpPr/>
          <p:nvPr/>
        </p:nvSpPr>
        <p:spPr>
          <a:xfrm>
            <a:off x="2180844" y="3655314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7"/>
          <p:cNvSpPr/>
          <p:nvPr/>
        </p:nvSpPr>
        <p:spPr>
          <a:xfrm>
            <a:off x="2187702" y="3669030"/>
            <a:ext cx="1508760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7"/>
          <p:cNvSpPr txBox="1"/>
          <p:nvPr/>
        </p:nvSpPr>
        <p:spPr>
          <a:xfrm>
            <a:off x="2249424" y="3710178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Treino / dados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3819906" y="3655314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7"/>
          <p:cNvSpPr/>
          <p:nvPr/>
        </p:nvSpPr>
        <p:spPr>
          <a:xfrm>
            <a:off x="3826764" y="3669030"/>
            <a:ext cx="1508760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7"/>
          <p:cNvSpPr txBox="1"/>
          <p:nvPr/>
        </p:nvSpPr>
        <p:spPr>
          <a:xfrm>
            <a:off x="3888486" y="3710178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Treino / dados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7"/>
          <p:cNvSpPr/>
          <p:nvPr/>
        </p:nvSpPr>
        <p:spPr>
          <a:xfrm>
            <a:off x="5458968" y="3655314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7"/>
          <p:cNvSpPr/>
          <p:nvPr/>
        </p:nvSpPr>
        <p:spPr>
          <a:xfrm>
            <a:off x="5465826" y="3669030"/>
            <a:ext cx="1508760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5527548" y="3710178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Treino / dados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7"/>
          <p:cNvSpPr/>
          <p:nvPr/>
        </p:nvSpPr>
        <p:spPr>
          <a:xfrm>
            <a:off x="7098030" y="3655314"/>
            <a:ext cx="1522476" cy="384048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7"/>
          <p:cNvSpPr/>
          <p:nvPr/>
        </p:nvSpPr>
        <p:spPr>
          <a:xfrm>
            <a:off x="7104888" y="3669030"/>
            <a:ext cx="1508760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7"/>
          <p:cNvSpPr txBox="1"/>
          <p:nvPr/>
        </p:nvSpPr>
        <p:spPr>
          <a:xfrm>
            <a:off x="7166610" y="3710178"/>
            <a:ext cx="13853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Recuperação na execução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7"/>
          <p:cNvSpPr txBox="1"/>
          <p:nvPr/>
        </p:nvSpPr>
        <p:spPr>
          <a:xfrm>
            <a:off x="562356" y="4313682"/>
            <a:ext cx="80238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RAG é um padrão de aplicação para grounding; AE, VAE, GAN e diffusion são famílias de modelos generativos.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7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8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8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05 / SISTEMAS COM LLM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8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Uma aplicação confiável tem camadas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8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O modelo é um componente: entrada, contexto, validação, ferramentas e observabilidade completam o sistema.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6" name="Google Shape;556;p28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7" name="Google Shape;557;p28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822960" y="1309878"/>
            <a:ext cx="7509510" cy="41148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8"/>
          <p:cNvSpPr/>
          <p:nvPr/>
        </p:nvSpPr>
        <p:spPr>
          <a:xfrm>
            <a:off x="829818" y="1323594"/>
            <a:ext cx="7495794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8"/>
          <p:cNvSpPr/>
          <p:nvPr/>
        </p:nvSpPr>
        <p:spPr>
          <a:xfrm>
            <a:off x="918972" y="1399032"/>
            <a:ext cx="1748790" cy="233172"/>
          </a:xfrm>
          <a:prstGeom prst="roundRect">
            <a:avLst>
              <a:gd fmla="val 16667" name="adj"/>
            </a:avLst>
          </a:prstGeom>
          <a:solidFill>
            <a:srgbClr val="E7EEFF"/>
          </a:solidFill>
          <a:ln cap="flat" cmpd="sng" w="9525">
            <a:solidFill>
              <a:srgbClr val="E7EE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8"/>
          <p:cNvSpPr txBox="1"/>
          <p:nvPr/>
        </p:nvSpPr>
        <p:spPr>
          <a:xfrm>
            <a:off x="994410" y="1426464"/>
            <a:ext cx="15910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F3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4F7DF3"/>
                </a:solidFill>
                <a:latin typeface="Arial"/>
                <a:ea typeface="Arial"/>
                <a:cs typeface="Arial"/>
                <a:sym typeface="Arial"/>
              </a:rPr>
              <a:t>INTERFACE / TAREFA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8"/>
          <p:cNvSpPr txBox="1"/>
          <p:nvPr/>
        </p:nvSpPr>
        <p:spPr>
          <a:xfrm>
            <a:off x="2818638" y="1412748"/>
            <a:ext cx="52120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pergunta, objetivo, identidade, limites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3" name="Google Shape;563;p28"/>
          <p:cNvCxnSpPr/>
          <p:nvPr/>
        </p:nvCxnSpPr>
        <p:spPr>
          <a:xfrm>
            <a:off x="4581144" y="1721358"/>
            <a:ext cx="0" cy="109728"/>
          </a:xfrm>
          <a:prstGeom prst="straightConnector1">
            <a:avLst/>
          </a:prstGeom>
          <a:noFill/>
          <a:ln cap="flat" cmpd="sng" w="17775">
            <a:solidFill>
              <a:srgbClr val="B8C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p28"/>
          <p:cNvSpPr/>
          <p:nvPr/>
        </p:nvSpPr>
        <p:spPr>
          <a:xfrm>
            <a:off x="822960" y="1837944"/>
            <a:ext cx="7509510" cy="41148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8"/>
          <p:cNvSpPr/>
          <p:nvPr/>
        </p:nvSpPr>
        <p:spPr>
          <a:xfrm>
            <a:off x="829818" y="1851660"/>
            <a:ext cx="7495794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8"/>
          <p:cNvSpPr/>
          <p:nvPr/>
        </p:nvSpPr>
        <p:spPr>
          <a:xfrm>
            <a:off x="918972" y="1927098"/>
            <a:ext cx="1748790" cy="233172"/>
          </a:xfrm>
          <a:prstGeom prst="roundRect">
            <a:avLst>
              <a:gd fmla="val 16667" name="adj"/>
            </a:avLst>
          </a:prstGeom>
          <a:solidFill>
            <a:srgbClr val="DDF8F3"/>
          </a:solidFill>
          <a:ln cap="flat" cmpd="sng" w="9525">
            <a:solidFill>
              <a:srgbClr val="DDF8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8"/>
          <p:cNvSpPr txBox="1"/>
          <p:nvPr/>
        </p:nvSpPr>
        <p:spPr>
          <a:xfrm>
            <a:off x="994410" y="1954530"/>
            <a:ext cx="15910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8"/>
          <p:cNvSpPr txBox="1"/>
          <p:nvPr/>
        </p:nvSpPr>
        <p:spPr>
          <a:xfrm>
            <a:off x="2818638" y="1940814"/>
            <a:ext cx="52120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prompt, histórico, RAG, memória necessária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9" name="Google Shape;569;p28"/>
          <p:cNvCxnSpPr/>
          <p:nvPr/>
        </p:nvCxnSpPr>
        <p:spPr>
          <a:xfrm>
            <a:off x="4581144" y="2249424"/>
            <a:ext cx="0" cy="109728"/>
          </a:xfrm>
          <a:prstGeom prst="straightConnector1">
            <a:avLst/>
          </a:prstGeom>
          <a:noFill/>
          <a:ln cap="flat" cmpd="sng" w="17775">
            <a:solidFill>
              <a:srgbClr val="B8C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28"/>
          <p:cNvSpPr/>
          <p:nvPr/>
        </p:nvSpPr>
        <p:spPr>
          <a:xfrm>
            <a:off x="822960" y="2366010"/>
            <a:ext cx="7509510" cy="41148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8"/>
          <p:cNvSpPr/>
          <p:nvPr/>
        </p:nvSpPr>
        <p:spPr>
          <a:xfrm>
            <a:off x="829818" y="2379726"/>
            <a:ext cx="7495794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8"/>
          <p:cNvSpPr/>
          <p:nvPr/>
        </p:nvSpPr>
        <p:spPr>
          <a:xfrm>
            <a:off x="918972" y="2455164"/>
            <a:ext cx="1748790" cy="233172"/>
          </a:xfrm>
          <a:prstGeom prst="roundRect">
            <a:avLst>
              <a:gd fmla="val 16667" name="adj"/>
            </a:avLst>
          </a:prstGeom>
          <a:solidFill>
            <a:srgbClr val="EEE8FF"/>
          </a:solidFill>
          <a:ln cap="flat" cmpd="sng" w="9525">
            <a:solidFill>
              <a:srgbClr val="EEE8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8"/>
          <p:cNvSpPr txBox="1"/>
          <p:nvPr/>
        </p:nvSpPr>
        <p:spPr>
          <a:xfrm>
            <a:off x="994410" y="2482596"/>
            <a:ext cx="15910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75F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9275F7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8"/>
          <p:cNvSpPr txBox="1"/>
          <p:nvPr/>
        </p:nvSpPr>
        <p:spPr>
          <a:xfrm>
            <a:off x="2818638" y="2468880"/>
            <a:ext cx="52120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resposta natural ou chamada estruturada de ferramenta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5" name="Google Shape;575;p28"/>
          <p:cNvCxnSpPr/>
          <p:nvPr/>
        </p:nvCxnSpPr>
        <p:spPr>
          <a:xfrm>
            <a:off x="4581144" y="2777490"/>
            <a:ext cx="0" cy="109728"/>
          </a:xfrm>
          <a:prstGeom prst="straightConnector1">
            <a:avLst/>
          </a:prstGeom>
          <a:noFill/>
          <a:ln cap="flat" cmpd="sng" w="17775">
            <a:solidFill>
              <a:srgbClr val="B8C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28"/>
          <p:cNvSpPr/>
          <p:nvPr/>
        </p:nvSpPr>
        <p:spPr>
          <a:xfrm>
            <a:off x="822960" y="2894076"/>
            <a:ext cx="7509510" cy="41148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8"/>
          <p:cNvSpPr/>
          <p:nvPr/>
        </p:nvSpPr>
        <p:spPr>
          <a:xfrm>
            <a:off x="829818" y="2907792"/>
            <a:ext cx="7495794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8"/>
          <p:cNvSpPr/>
          <p:nvPr/>
        </p:nvSpPr>
        <p:spPr>
          <a:xfrm>
            <a:off x="918972" y="2983230"/>
            <a:ext cx="1748790" cy="233172"/>
          </a:xfrm>
          <a:prstGeom prst="roundRect">
            <a:avLst>
              <a:gd fmla="val 16667" name="adj"/>
            </a:avLst>
          </a:prstGeom>
          <a:solidFill>
            <a:srgbClr val="FFF1DB"/>
          </a:solidFill>
          <a:ln cap="flat" cmpd="sng" w="9525">
            <a:solidFill>
              <a:srgbClr val="FFF1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8"/>
          <p:cNvSpPr txBox="1"/>
          <p:nvPr/>
        </p:nvSpPr>
        <p:spPr>
          <a:xfrm>
            <a:off x="994410" y="3010662"/>
            <a:ext cx="15910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A746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3A746"/>
                </a:solidFill>
                <a:latin typeface="Arial"/>
                <a:ea typeface="Arial"/>
                <a:cs typeface="Arial"/>
                <a:sym typeface="Arial"/>
              </a:rPr>
              <a:t>EXECUÇÃO CONTROLADA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8"/>
          <p:cNvSpPr txBox="1"/>
          <p:nvPr/>
        </p:nvSpPr>
        <p:spPr>
          <a:xfrm>
            <a:off x="2818638" y="2996946"/>
            <a:ext cx="52120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schema, permissões, ferramentas allowlisted, validação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1" name="Google Shape;581;p28"/>
          <p:cNvCxnSpPr/>
          <p:nvPr/>
        </p:nvCxnSpPr>
        <p:spPr>
          <a:xfrm>
            <a:off x="4581144" y="3305556"/>
            <a:ext cx="0" cy="109728"/>
          </a:xfrm>
          <a:prstGeom prst="straightConnector1">
            <a:avLst/>
          </a:prstGeom>
          <a:noFill/>
          <a:ln cap="flat" cmpd="sng" w="17775">
            <a:solidFill>
              <a:srgbClr val="B8C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p28"/>
          <p:cNvSpPr/>
          <p:nvPr/>
        </p:nvSpPr>
        <p:spPr>
          <a:xfrm>
            <a:off x="822960" y="3422142"/>
            <a:ext cx="7509510" cy="41148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8"/>
          <p:cNvSpPr/>
          <p:nvPr/>
        </p:nvSpPr>
        <p:spPr>
          <a:xfrm>
            <a:off x="829818" y="3435858"/>
            <a:ext cx="7495794" cy="37719"/>
          </a:xfrm>
          <a:prstGeom prst="rect">
            <a:avLst/>
          </a:prstGeom>
          <a:solidFill>
            <a:srgbClr val="289B77"/>
          </a:solidFill>
          <a:ln cap="flat" cmpd="sng" w="9525">
            <a:solidFill>
              <a:srgbClr val="289B7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8"/>
          <p:cNvSpPr/>
          <p:nvPr/>
        </p:nvSpPr>
        <p:spPr>
          <a:xfrm>
            <a:off x="918972" y="3511296"/>
            <a:ext cx="1748790" cy="233172"/>
          </a:xfrm>
          <a:prstGeom prst="roundRect">
            <a:avLst>
              <a:gd fmla="val 16667" name="adj"/>
            </a:avLst>
          </a:prstGeom>
          <a:solidFill>
            <a:srgbClr val="DDF6EC"/>
          </a:solidFill>
          <a:ln cap="flat" cmpd="sng" w="9525">
            <a:solidFill>
              <a:srgbClr val="DDF6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8"/>
          <p:cNvSpPr txBox="1"/>
          <p:nvPr/>
        </p:nvSpPr>
        <p:spPr>
          <a:xfrm>
            <a:off x="994410" y="3538728"/>
            <a:ext cx="15910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9B7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89B77"/>
                </a:solidFill>
                <a:latin typeface="Arial"/>
                <a:ea typeface="Arial"/>
                <a:cs typeface="Arial"/>
                <a:sym typeface="Arial"/>
              </a:rPr>
              <a:t>AVALIAÇÃO / OBSERVABILIDADE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8"/>
          <p:cNvSpPr txBox="1"/>
          <p:nvPr/>
        </p:nvSpPr>
        <p:spPr>
          <a:xfrm>
            <a:off x="2818638" y="3525012"/>
            <a:ext cx="52120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qualidade, latência, custo, rastros, incidentes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8"/>
          <p:cNvSpPr txBox="1"/>
          <p:nvPr/>
        </p:nvSpPr>
        <p:spPr>
          <a:xfrm>
            <a:off x="589788" y="4169664"/>
            <a:ext cx="798957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Princípio de arquitetura: não deixe o texto gerado decidir sozinho o que o sistema pode executar.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8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9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07 / MEMÓRIA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9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Memória dá continuidade — mas precisa de governança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9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O histórico da conversa é uma memória de curto prazo; persistência útil exige seleção e política.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8" name="Google Shape;598;p29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p29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9"/>
          <p:cNvSpPr/>
          <p:nvPr/>
        </p:nvSpPr>
        <p:spPr>
          <a:xfrm>
            <a:off x="569214" y="1337310"/>
            <a:ext cx="5074920" cy="562356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9"/>
          <p:cNvSpPr/>
          <p:nvPr/>
        </p:nvSpPr>
        <p:spPr>
          <a:xfrm>
            <a:off x="576072" y="1351026"/>
            <a:ext cx="5061204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9"/>
          <p:cNvSpPr/>
          <p:nvPr/>
        </p:nvSpPr>
        <p:spPr>
          <a:xfrm>
            <a:off x="706374" y="1460754"/>
            <a:ext cx="1495044" cy="308610"/>
          </a:xfrm>
          <a:prstGeom prst="roundRect">
            <a:avLst>
              <a:gd fmla="val 16667" name="adj"/>
            </a:avLst>
          </a:prstGeom>
          <a:solidFill>
            <a:srgbClr val="E7EEFF"/>
          </a:solidFill>
          <a:ln cap="flat" cmpd="sng" w="9525">
            <a:solidFill>
              <a:srgbClr val="E7EE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9"/>
          <p:cNvSpPr txBox="1"/>
          <p:nvPr/>
        </p:nvSpPr>
        <p:spPr>
          <a:xfrm>
            <a:off x="768096" y="1522476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F3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4F7DF3"/>
                </a:solidFill>
                <a:latin typeface="Arial"/>
                <a:ea typeface="Arial"/>
                <a:cs typeface="Arial"/>
                <a:sym typeface="Arial"/>
              </a:rPr>
              <a:t>TRABALHO / CURTO PRAZO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9"/>
          <p:cNvSpPr txBox="1"/>
          <p:nvPr/>
        </p:nvSpPr>
        <p:spPr>
          <a:xfrm>
            <a:off x="2386584" y="1453896"/>
            <a:ext cx="30518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Mensagens, tool calls e observações do loop atual.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9"/>
          <p:cNvSpPr/>
          <p:nvPr/>
        </p:nvSpPr>
        <p:spPr>
          <a:xfrm>
            <a:off x="569214" y="2043684"/>
            <a:ext cx="5074920" cy="562356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9"/>
          <p:cNvSpPr/>
          <p:nvPr/>
        </p:nvSpPr>
        <p:spPr>
          <a:xfrm>
            <a:off x="576072" y="2057400"/>
            <a:ext cx="5061204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9"/>
          <p:cNvSpPr/>
          <p:nvPr/>
        </p:nvSpPr>
        <p:spPr>
          <a:xfrm>
            <a:off x="706374" y="2167128"/>
            <a:ext cx="1495044" cy="308610"/>
          </a:xfrm>
          <a:prstGeom prst="roundRect">
            <a:avLst>
              <a:gd fmla="val 16667" name="adj"/>
            </a:avLst>
          </a:prstGeom>
          <a:solidFill>
            <a:srgbClr val="EEE8FF"/>
          </a:solidFill>
          <a:ln cap="flat" cmpd="sng" w="9525">
            <a:solidFill>
              <a:srgbClr val="EEE8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9"/>
          <p:cNvSpPr txBox="1"/>
          <p:nvPr/>
        </p:nvSpPr>
        <p:spPr>
          <a:xfrm>
            <a:off x="768096" y="222885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75F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9275F7"/>
                </a:solidFill>
                <a:latin typeface="Arial"/>
                <a:ea typeface="Arial"/>
                <a:cs typeface="Arial"/>
                <a:sym typeface="Arial"/>
              </a:rPr>
              <a:t>EPISÓDICA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9"/>
          <p:cNvSpPr txBox="1"/>
          <p:nvPr/>
        </p:nvSpPr>
        <p:spPr>
          <a:xfrm>
            <a:off x="2386584" y="2160270"/>
            <a:ext cx="30518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Eventos anteriores: o que aconteceu, quando e com qual resultado.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9"/>
          <p:cNvSpPr/>
          <p:nvPr/>
        </p:nvSpPr>
        <p:spPr>
          <a:xfrm>
            <a:off x="569214" y="2750058"/>
            <a:ext cx="5074920" cy="562356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9"/>
          <p:cNvSpPr/>
          <p:nvPr/>
        </p:nvSpPr>
        <p:spPr>
          <a:xfrm>
            <a:off x="576072" y="2763774"/>
            <a:ext cx="5061204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9"/>
          <p:cNvSpPr/>
          <p:nvPr/>
        </p:nvSpPr>
        <p:spPr>
          <a:xfrm>
            <a:off x="706374" y="2873502"/>
            <a:ext cx="1495044" cy="308610"/>
          </a:xfrm>
          <a:prstGeom prst="roundRect">
            <a:avLst>
              <a:gd fmla="val 16667" name="adj"/>
            </a:avLst>
          </a:prstGeom>
          <a:solidFill>
            <a:srgbClr val="DDF8F3"/>
          </a:solidFill>
          <a:ln cap="flat" cmpd="sng" w="9525">
            <a:solidFill>
              <a:srgbClr val="DDF8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9"/>
          <p:cNvSpPr txBox="1"/>
          <p:nvPr/>
        </p:nvSpPr>
        <p:spPr>
          <a:xfrm>
            <a:off x="768096" y="2935224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SEMÂNTICA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9"/>
          <p:cNvSpPr txBox="1"/>
          <p:nvPr/>
        </p:nvSpPr>
        <p:spPr>
          <a:xfrm>
            <a:off x="2386584" y="2866644"/>
            <a:ext cx="30518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Fatos e preferências relativamente estáveis, com fonte e data.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9"/>
          <p:cNvSpPr/>
          <p:nvPr/>
        </p:nvSpPr>
        <p:spPr>
          <a:xfrm>
            <a:off x="569214" y="3456432"/>
            <a:ext cx="5074920" cy="562356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9"/>
          <p:cNvSpPr/>
          <p:nvPr/>
        </p:nvSpPr>
        <p:spPr>
          <a:xfrm>
            <a:off x="576072" y="3470148"/>
            <a:ext cx="5061204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9"/>
          <p:cNvSpPr/>
          <p:nvPr/>
        </p:nvSpPr>
        <p:spPr>
          <a:xfrm>
            <a:off x="706374" y="3579876"/>
            <a:ext cx="1495044" cy="308610"/>
          </a:xfrm>
          <a:prstGeom prst="roundRect">
            <a:avLst>
              <a:gd fmla="val 16667" name="adj"/>
            </a:avLst>
          </a:prstGeom>
          <a:solidFill>
            <a:srgbClr val="FFF1DB"/>
          </a:solidFill>
          <a:ln cap="flat" cmpd="sng" w="9525">
            <a:solidFill>
              <a:srgbClr val="FFF1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9"/>
          <p:cNvSpPr txBox="1"/>
          <p:nvPr/>
        </p:nvSpPr>
        <p:spPr>
          <a:xfrm>
            <a:off x="768096" y="364159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A746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3A746"/>
                </a:solidFill>
                <a:latin typeface="Arial"/>
                <a:ea typeface="Arial"/>
                <a:cs typeface="Arial"/>
                <a:sym typeface="Arial"/>
              </a:rPr>
              <a:t>PROCEDURAL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9"/>
          <p:cNvSpPr txBox="1"/>
          <p:nvPr/>
        </p:nvSpPr>
        <p:spPr>
          <a:xfrm>
            <a:off x="2386584" y="3573018"/>
            <a:ext cx="30518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Como executar uma tarefa: passos, regras e procedimentos validados.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9"/>
          <p:cNvSpPr/>
          <p:nvPr/>
        </p:nvSpPr>
        <p:spPr>
          <a:xfrm>
            <a:off x="5925312" y="1337310"/>
            <a:ext cx="2606040" cy="2674620"/>
          </a:xfrm>
          <a:prstGeom prst="roundRect">
            <a:avLst>
              <a:gd fmla="val 3158" name="adj"/>
            </a:avLst>
          </a:prstGeom>
          <a:solidFill>
            <a:srgbClr val="142238"/>
          </a:solidFill>
          <a:ln cap="flat" cmpd="sng" w="10150">
            <a:solidFill>
              <a:srgbClr val="142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9"/>
          <p:cNvSpPr/>
          <p:nvPr/>
        </p:nvSpPr>
        <p:spPr>
          <a:xfrm>
            <a:off x="5932170" y="1351026"/>
            <a:ext cx="2592324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9"/>
          <p:cNvSpPr txBox="1"/>
          <p:nvPr/>
        </p:nvSpPr>
        <p:spPr>
          <a:xfrm>
            <a:off x="6117336" y="1522476"/>
            <a:ext cx="222199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POLÍTICA DE MEMÓRIA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9"/>
          <p:cNvSpPr/>
          <p:nvPr/>
        </p:nvSpPr>
        <p:spPr>
          <a:xfrm>
            <a:off x="6131052" y="1954530"/>
            <a:ext cx="68580" cy="68580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9"/>
          <p:cNvSpPr txBox="1"/>
          <p:nvPr/>
        </p:nvSpPr>
        <p:spPr>
          <a:xfrm>
            <a:off x="6268212" y="1892808"/>
            <a:ext cx="20231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vale guardar?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6131052" y="2366010"/>
            <a:ext cx="68580" cy="68580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9"/>
          <p:cNvSpPr txBox="1"/>
          <p:nvPr/>
        </p:nvSpPr>
        <p:spPr>
          <a:xfrm>
            <a:off x="6268212" y="2304288"/>
            <a:ext cx="20231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 quanto tempo?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6131052" y="2777490"/>
            <a:ext cx="68580" cy="68580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9"/>
          <p:cNvSpPr txBox="1"/>
          <p:nvPr/>
        </p:nvSpPr>
        <p:spPr>
          <a:xfrm>
            <a:off x="6268212" y="2715768"/>
            <a:ext cx="20231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Quem pode ler ou alterar?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9"/>
          <p:cNvSpPr/>
          <p:nvPr/>
        </p:nvSpPr>
        <p:spPr>
          <a:xfrm>
            <a:off x="6131052" y="3188970"/>
            <a:ext cx="68580" cy="68580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9"/>
          <p:cNvSpPr txBox="1"/>
          <p:nvPr/>
        </p:nvSpPr>
        <p:spPr>
          <a:xfrm>
            <a:off x="6268212" y="3127248"/>
            <a:ext cx="20231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corrigir ou apagar?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9"/>
          <p:cNvSpPr/>
          <p:nvPr/>
        </p:nvSpPr>
        <p:spPr>
          <a:xfrm>
            <a:off x="6131052" y="3600450"/>
            <a:ext cx="68580" cy="68580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9"/>
          <p:cNvSpPr txBox="1"/>
          <p:nvPr/>
        </p:nvSpPr>
        <p:spPr>
          <a:xfrm>
            <a:off x="6268212" y="3538728"/>
            <a:ext cx="20231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avaliar a relevância?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9"/>
          <p:cNvSpPr txBox="1"/>
          <p:nvPr/>
        </p:nvSpPr>
        <p:spPr>
          <a:xfrm>
            <a:off x="630936" y="4265676"/>
            <a:ext cx="792099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Memória não é “guardar tudo”: é recuperar o detalhe certo, no momento certo, com permissão.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9"/>
          <p:cNvSpPr txBox="1"/>
          <p:nvPr/>
        </p:nvSpPr>
        <p:spPr>
          <a:xfrm>
            <a:off x="411480" y="4738878"/>
            <a:ext cx="781812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8A95A5"/>
                </a:solidFill>
                <a:latin typeface="Arial"/>
                <a:ea typeface="Arial"/>
                <a:cs typeface="Arial"/>
                <a:sym typeface="Arial"/>
              </a:rPr>
              <a:t>Fonte: Aula 08 — Agent Memories; Aula 07 — histórico de mensagens como memória de curto prazo.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9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0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0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07 / CONTEXTO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0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Contexto longo, RAG, memória ou fine-tuning?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0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Use a ferramenta que resolve a causa do problema; essas opções não são intercambiáveis.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5" name="Google Shape;645;p30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6" name="Google Shape;646;p30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0"/>
          <p:cNvSpPr/>
          <p:nvPr/>
        </p:nvSpPr>
        <p:spPr>
          <a:xfrm>
            <a:off x="500634" y="1344168"/>
            <a:ext cx="1508760" cy="322326"/>
          </a:xfrm>
          <a:prstGeom prst="roundRect">
            <a:avLst>
              <a:gd fmla="val 16667" name="adj"/>
            </a:avLst>
          </a:prstGeom>
          <a:solidFill>
            <a:srgbClr val="142238"/>
          </a:solidFill>
          <a:ln cap="flat" cmpd="sng" w="9525">
            <a:solidFill>
              <a:srgbClr val="14223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0"/>
          <p:cNvSpPr txBox="1"/>
          <p:nvPr/>
        </p:nvSpPr>
        <p:spPr>
          <a:xfrm>
            <a:off x="548640" y="1419606"/>
            <a:ext cx="14127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OPÇÃO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0"/>
          <p:cNvSpPr/>
          <p:nvPr/>
        </p:nvSpPr>
        <p:spPr>
          <a:xfrm>
            <a:off x="2160270" y="1344168"/>
            <a:ext cx="1508760" cy="322326"/>
          </a:xfrm>
          <a:prstGeom prst="roundRect">
            <a:avLst>
              <a:gd fmla="val 16667" name="adj"/>
            </a:avLst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0"/>
          <p:cNvSpPr txBox="1"/>
          <p:nvPr/>
        </p:nvSpPr>
        <p:spPr>
          <a:xfrm>
            <a:off x="2208276" y="1419606"/>
            <a:ext cx="14127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0"/>
          <p:cNvSpPr/>
          <p:nvPr/>
        </p:nvSpPr>
        <p:spPr>
          <a:xfrm>
            <a:off x="3819906" y="1344168"/>
            <a:ext cx="1508760" cy="322326"/>
          </a:xfrm>
          <a:prstGeom prst="roundRect">
            <a:avLst>
              <a:gd fmla="val 16667" name="adj"/>
            </a:avLst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0"/>
          <p:cNvSpPr txBox="1"/>
          <p:nvPr/>
        </p:nvSpPr>
        <p:spPr>
          <a:xfrm>
            <a:off x="3867912" y="1419606"/>
            <a:ext cx="14127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0"/>
          <p:cNvSpPr/>
          <p:nvPr/>
        </p:nvSpPr>
        <p:spPr>
          <a:xfrm>
            <a:off x="5479542" y="1344168"/>
            <a:ext cx="1508760" cy="322326"/>
          </a:xfrm>
          <a:prstGeom prst="roundRect">
            <a:avLst>
              <a:gd fmla="val 16667" name="adj"/>
            </a:avLst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0"/>
          <p:cNvSpPr txBox="1"/>
          <p:nvPr/>
        </p:nvSpPr>
        <p:spPr>
          <a:xfrm>
            <a:off x="5527548" y="1419606"/>
            <a:ext cx="14127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MEMÓRIA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0"/>
          <p:cNvSpPr/>
          <p:nvPr/>
        </p:nvSpPr>
        <p:spPr>
          <a:xfrm>
            <a:off x="7139178" y="1344168"/>
            <a:ext cx="1508760" cy="322326"/>
          </a:xfrm>
          <a:prstGeom prst="roundRect">
            <a:avLst>
              <a:gd fmla="val 16667" name="adj"/>
            </a:avLst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0"/>
          <p:cNvSpPr txBox="1"/>
          <p:nvPr/>
        </p:nvSpPr>
        <p:spPr>
          <a:xfrm>
            <a:off x="7187184" y="1419606"/>
            <a:ext cx="141274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FINE-TUNING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0"/>
          <p:cNvSpPr/>
          <p:nvPr/>
        </p:nvSpPr>
        <p:spPr>
          <a:xfrm>
            <a:off x="500634" y="1762506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0"/>
          <p:cNvSpPr txBox="1"/>
          <p:nvPr/>
        </p:nvSpPr>
        <p:spPr>
          <a:xfrm>
            <a:off x="569214" y="1824228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Serve para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0"/>
          <p:cNvSpPr/>
          <p:nvPr/>
        </p:nvSpPr>
        <p:spPr>
          <a:xfrm>
            <a:off x="2160270" y="1762506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0"/>
          <p:cNvSpPr/>
          <p:nvPr/>
        </p:nvSpPr>
        <p:spPr>
          <a:xfrm>
            <a:off x="2167128" y="1776222"/>
            <a:ext cx="1495044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0"/>
          <p:cNvSpPr txBox="1"/>
          <p:nvPr/>
        </p:nvSpPr>
        <p:spPr>
          <a:xfrm>
            <a:off x="2228850" y="1824228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Material da tarefa atual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0"/>
          <p:cNvSpPr/>
          <p:nvPr/>
        </p:nvSpPr>
        <p:spPr>
          <a:xfrm>
            <a:off x="3819906" y="1762506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0"/>
          <p:cNvSpPr/>
          <p:nvPr/>
        </p:nvSpPr>
        <p:spPr>
          <a:xfrm>
            <a:off x="3826764" y="1776222"/>
            <a:ext cx="1495044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0"/>
          <p:cNvSpPr txBox="1"/>
          <p:nvPr/>
        </p:nvSpPr>
        <p:spPr>
          <a:xfrm>
            <a:off x="3888486" y="1824228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Conhecimento externo / documentos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0"/>
          <p:cNvSpPr/>
          <p:nvPr/>
        </p:nvSpPr>
        <p:spPr>
          <a:xfrm>
            <a:off x="5479542" y="1762506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0"/>
          <p:cNvSpPr/>
          <p:nvPr/>
        </p:nvSpPr>
        <p:spPr>
          <a:xfrm>
            <a:off x="5486400" y="1776222"/>
            <a:ext cx="1495044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0"/>
          <p:cNvSpPr txBox="1"/>
          <p:nvPr/>
        </p:nvSpPr>
        <p:spPr>
          <a:xfrm>
            <a:off x="5548122" y="1824228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Continuidade entre interações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0"/>
          <p:cNvSpPr/>
          <p:nvPr/>
        </p:nvSpPr>
        <p:spPr>
          <a:xfrm>
            <a:off x="7139178" y="1762506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0"/>
          <p:cNvSpPr/>
          <p:nvPr/>
        </p:nvSpPr>
        <p:spPr>
          <a:xfrm>
            <a:off x="7146036" y="1776222"/>
            <a:ext cx="1495044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0"/>
          <p:cNvSpPr txBox="1"/>
          <p:nvPr/>
        </p:nvSpPr>
        <p:spPr>
          <a:xfrm>
            <a:off x="7207758" y="1824228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Padrão de comportamento / tarefa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500634" y="2304288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0"/>
          <p:cNvSpPr txBox="1"/>
          <p:nvPr/>
        </p:nvSpPr>
        <p:spPr>
          <a:xfrm>
            <a:off x="569214" y="2366010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Atualização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0"/>
          <p:cNvSpPr/>
          <p:nvPr/>
        </p:nvSpPr>
        <p:spPr>
          <a:xfrm>
            <a:off x="2160270" y="2304288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0"/>
          <p:cNvSpPr/>
          <p:nvPr/>
        </p:nvSpPr>
        <p:spPr>
          <a:xfrm>
            <a:off x="2167128" y="2318004"/>
            <a:ext cx="1495044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0"/>
          <p:cNvSpPr txBox="1"/>
          <p:nvPr/>
        </p:nvSpPr>
        <p:spPr>
          <a:xfrm>
            <a:off x="2228850" y="2366010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 cada chamada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0"/>
          <p:cNvSpPr/>
          <p:nvPr/>
        </p:nvSpPr>
        <p:spPr>
          <a:xfrm>
            <a:off x="3819906" y="2304288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3826764" y="2318004"/>
            <a:ext cx="1495044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0"/>
          <p:cNvSpPr txBox="1"/>
          <p:nvPr/>
        </p:nvSpPr>
        <p:spPr>
          <a:xfrm>
            <a:off x="3888486" y="2366010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Ao atualizar o índice / fontes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0"/>
          <p:cNvSpPr/>
          <p:nvPr/>
        </p:nvSpPr>
        <p:spPr>
          <a:xfrm>
            <a:off x="5479542" y="2304288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0"/>
          <p:cNvSpPr/>
          <p:nvPr/>
        </p:nvSpPr>
        <p:spPr>
          <a:xfrm>
            <a:off x="5486400" y="2318004"/>
            <a:ext cx="1495044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0"/>
          <p:cNvSpPr txBox="1"/>
          <p:nvPr/>
        </p:nvSpPr>
        <p:spPr>
          <a:xfrm>
            <a:off x="5548122" y="2366010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Ao gravar ou expirar itens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0"/>
          <p:cNvSpPr/>
          <p:nvPr/>
        </p:nvSpPr>
        <p:spPr>
          <a:xfrm>
            <a:off x="7139178" y="2304288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0"/>
          <p:cNvSpPr/>
          <p:nvPr/>
        </p:nvSpPr>
        <p:spPr>
          <a:xfrm>
            <a:off x="7146036" y="2318004"/>
            <a:ext cx="1495044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0"/>
          <p:cNvSpPr txBox="1"/>
          <p:nvPr/>
        </p:nvSpPr>
        <p:spPr>
          <a:xfrm>
            <a:off x="7207758" y="2366010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Ao treinar novamente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0"/>
          <p:cNvSpPr/>
          <p:nvPr/>
        </p:nvSpPr>
        <p:spPr>
          <a:xfrm>
            <a:off x="500634" y="2846070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0"/>
          <p:cNvSpPr txBox="1"/>
          <p:nvPr/>
        </p:nvSpPr>
        <p:spPr>
          <a:xfrm>
            <a:off x="569214" y="2907792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Risco comum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0"/>
          <p:cNvSpPr/>
          <p:nvPr/>
        </p:nvSpPr>
        <p:spPr>
          <a:xfrm>
            <a:off x="2160270" y="2846070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0"/>
          <p:cNvSpPr/>
          <p:nvPr/>
        </p:nvSpPr>
        <p:spPr>
          <a:xfrm>
            <a:off x="2167128" y="2859786"/>
            <a:ext cx="1495044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0"/>
          <p:cNvSpPr txBox="1"/>
          <p:nvPr/>
        </p:nvSpPr>
        <p:spPr>
          <a:xfrm>
            <a:off x="2228850" y="2907792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Contexto irrelevante ou excessivo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0"/>
          <p:cNvSpPr/>
          <p:nvPr/>
        </p:nvSpPr>
        <p:spPr>
          <a:xfrm>
            <a:off x="3819906" y="2846070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0"/>
          <p:cNvSpPr/>
          <p:nvPr/>
        </p:nvSpPr>
        <p:spPr>
          <a:xfrm>
            <a:off x="3826764" y="2859786"/>
            <a:ext cx="1495044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0"/>
          <p:cNvSpPr txBox="1"/>
          <p:nvPr/>
        </p:nvSpPr>
        <p:spPr>
          <a:xfrm>
            <a:off x="3888486" y="2907792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Recuperação ruim / fonte desatualizada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0"/>
          <p:cNvSpPr/>
          <p:nvPr/>
        </p:nvSpPr>
        <p:spPr>
          <a:xfrm>
            <a:off x="5479542" y="2846070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0"/>
          <p:cNvSpPr/>
          <p:nvPr/>
        </p:nvSpPr>
        <p:spPr>
          <a:xfrm>
            <a:off x="5486400" y="2859786"/>
            <a:ext cx="1495044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0"/>
          <p:cNvSpPr txBox="1"/>
          <p:nvPr/>
        </p:nvSpPr>
        <p:spPr>
          <a:xfrm>
            <a:off x="5548122" y="2907792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Memória obsoleta / sensível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7139178" y="2846070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0"/>
          <p:cNvSpPr/>
          <p:nvPr/>
        </p:nvSpPr>
        <p:spPr>
          <a:xfrm>
            <a:off x="7146036" y="2859786"/>
            <a:ext cx="1495044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0"/>
          <p:cNvSpPr txBox="1"/>
          <p:nvPr/>
        </p:nvSpPr>
        <p:spPr>
          <a:xfrm>
            <a:off x="7207758" y="2907792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Esquecimento / custo de treino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0"/>
          <p:cNvSpPr/>
          <p:nvPr/>
        </p:nvSpPr>
        <p:spPr>
          <a:xfrm>
            <a:off x="500634" y="3387852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0"/>
          <p:cNvSpPr txBox="1"/>
          <p:nvPr/>
        </p:nvSpPr>
        <p:spPr>
          <a:xfrm>
            <a:off x="569214" y="3449574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Verificar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0"/>
          <p:cNvSpPr/>
          <p:nvPr/>
        </p:nvSpPr>
        <p:spPr>
          <a:xfrm>
            <a:off x="2160270" y="3387852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0"/>
          <p:cNvSpPr/>
          <p:nvPr/>
        </p:nvSpPr>
        <p:spPr>
          <a:xfrm>
            <a:off x="2167128" y="3401568"/>
            <a:ext cx="1495044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0"/>
          <p:cNvSpPr txBox="1"/>
          <p:nvPr/>
        </p:nvSpPr>
        <p:spPr>
          <a:xfrm>
            <a:off x="2228850" y="3449574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Tamanho e ordem do contexto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0"/>
          <p:cNvSpPr/>
          <p:nvPr/>
        </p:nvSpPr>
        <p:spPr>
          <a:xfrm>
            <a:off x="3819906" y="3387852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0"/>
          <p:cNvSpPr/>
          <p:nvPr/>
        </p:nvSpPr>
        <p:spPr>
          <a:xfrm>
            <a:off x="3826764" y="3401568"/>
            <a:ext cx="1495044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0"/>
          <p:cNvSpPr txBox="1"/>
          <p:nvPr/>
        </p:nvSpPr>
        <p:spPr>
          <a:xfrm>
            <a:off x="3888486" y="3449574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Precisão, cobertura e fidelidade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0"/>
          <p:cNvSpPr/>
          <p:nvPr/>
        </p:nvSpPr>
        <p:spPr>
          <a:xfrm>
            <a:off x="5479542" y="3387852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0"/>
          <p:cNvSpPr/>
          <p:nvPr/>
        </p:nvSpPr>
        <p:spPr>
          <a:xfrm>
            <a:off x="5486400" y="3401568"/>
            <a:ext cx="1495044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0"/>
          <p:cNvSpPr txBox="1"/>
          <p:nvPr/>
        </p:nvSpPr>
        <p:spPr>
          <a:xfrm>
            <a:off x="5548122" y="3449574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Relevância, permissão, retenção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0"/>
          <p:cNvSpPr/>
          <p:nvPr/>
        </p:nvSpPr>
        <p:spPr>
          <a:xfrm>
            <a:off x="7139178" y="3387852"/>
            <a:ext cx="1508760" cy="452628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0"/>
          <p:cNvSpPr/>
          <p:nvPr/>
        </p:nvSpPr>
        <p:spPr>
          <a:xfrm>
            <a:off x="7146036" y="3401568"/>
            <a:ext cx="1495044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0"/>
          <p:cNvSpPr txBox="1"/>
          <p:nvPr/>
        </p:nvSpPr>
        <p:spPr>
          <a:xfrm>
            <a:off x="7207758" y="3449574"/>
            <a:ext cx="137160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Generalização e avaliação comparativa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0"/>
          <p:cNvSpPr txBox="1"/>
          <p:nvPr/>
        </p:nvSpPr>
        <p:spPr>
          <a:xfrm>
            <a:off x="562356" y="4231386"/>
            <a:ext cx="805815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Regra prática: fatos mutáveis → recuperação; preferência persistente → memória com política; mudança de comportamento → avalie fine-tuning.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0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1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1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08 / QUALIDADE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1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Avaliar o sistema de ponta a ponta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1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Uma boa resposta não garante que o sistema executou a tarefa corretamente nem com segurança.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4" name="Google Shape;724;p31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5" name="Google Shape;725;p31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500634" y="1508760"/>
            <a:ext cx="1440180" cy="174879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1"/>
          <p:cNvSpPr/>
          <p:nvPr/>
        </p:nvSpPr>
        <p:spPr>
          <a:xfrm>
            <a:off x="507492" y="1522476"/>
            <a:ext cx="1426464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1"/>
          <p:cNvSpPr txBox="1"/>
          <p:nvPr/>
        </p:nvSpPr>
        <p:spPr>
          <a:xfrm>
            <a:off x="589788" y="1673352"/>
            <a:ext cx="1261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F3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4F7DF3"/>
                </a:solidFill>
                <a:latin typeface="Arial"/>
                <a:ea typeface="Arial"/>
                <a:cs typeface="Arial"/>
                <a:sym typeface="Arial"/>
              </a:rPr>
              <a:t>RETRIEVAL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1"/>
          <p:cNvSpPr txBox="1"/>
          <p:nvPr/>
        </p:nvSpPr>
        <p:spPr>
          <a:xfrm>
            <a:off x="610362" y="2036826"/>
            <a:ext cx="1220724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O contexto relevante chegou?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0" name="Google Shape;730;p31"/>
          <p:cNvCxnSpPr/>
          <p:nvPr/>
        </p:nvCxnSpPr>
        <p:spPr>
          <a:xfrm>
            <a:off x="624078" y="2619756"/>
            <a:ext cx="1193292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1" name="Google Shape;731;p31"/>
          <p:cNvSpPr txBox="1"/>
          <p:nvPr/>
        </p:nvSpPr>
        <p:spPr>
          <a:xfrm>
            <a:off x="610362" y="2770632"/>
            <a:ext cx="122072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Precisão / cobertura do contexto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1"/>
          <p:cNvSpPr/>
          <p:nvPr/>
        </p:nvSpPr>
        <p:spPr>
          <a:xfrm>
            <a:off x="2180844" y="1508760"/>
            <a:ext cx="1440180" cy="174879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1"/>
          <p:cNvSpPr/>
          <p:nvPr/>
        </p:nvSpPr>
        <p:spPr>
          <a:xfrm>
            <a:off x="2187702" y="1522476"/>
            <a:ext cx="1426464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1"/>
          <p:cNvSpPr txBox="1"/>
          <p:nvPr/>
        </p:nvSpPr>
        <p:spPr>
          <a:xfrm>
            <a:off x="2269998" y="1673352"/>
            <a:ext cx="1261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75F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9275F7"/>
                </a:solidFill>
                <a:latin typeface="Arial"/>
                <a:ea typeface="Arial"/>
                <a:cs typeface="Arial"/>
                <a:sym typeface="Arial"/>
              </a:rPr>
              <a:t>GENERATION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1"/>
          <p:cNvSpPr txBox="1"/>
          <p:nvPr/>
        </p:nvSpPr>
        <p:spPr>
          <a:xfrm>
            <a:off x="2290572" y="2036826"/>
            <a:ext cx="1220724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 resposta é fiel e útil?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6" name="Google Shape;736;p31"/>
          <p:cNvCxnSpPr/>
          <p:nvPr/>
        </p:nvCxnSpPr>
        <p:spPr>
          <a:xfrm>
            <a:off x="2304288" y="2619756"/>
            <a:ext cx="1193292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7" name="Google Shape;737;p31"/>
          <p:cNvSpPr txBox="1"/>
          <p:nvPr/>
        </p:nvSpPr>
        <p:spPr>
          <a:xfrm>
            <a:off x="2290572" y="2770632"/>
            <a:ext cx="122072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Fidelidade / relevância / formato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1"/>
          <p:cNvSpPr/>
          <p:nvPr/>
        </p:nvSpPr>
        <p:spPr>
          <a:xfrm>
            <a:off x="3861054" y="1508760"/>
            <a:ext cx="1440180" cy="174879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1"/>
          <p:cNvSpPr/>
          <p:nvPr/>
        </p:nvSpPr>
        <p:spPr>
          <a:xfrm>
            <a:off x="3867912" y="1522476"/>
            <a:ext cx="1426464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1"/>
          <p:cNvSpPr txBox="1"/>
          <p:nvPr/>
        </p:nvSpPr>
        <p:spPr>
          <a:xfrm>
            <a:off x="3950208" y="1673352"/>
            <a:ext cx="1261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1"/>
          <p:cNvSpPr txBox="1"/>
          <p:nvPr/>
        </p:nvSpPr>
        <p:spPr>
          <a:xfrm>
            <a:off x="3970782" y="2036826"/>
            <a:ext cx="1220724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 tarefa foi concluída?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2" name="Google Shape;742;p31"/>
          <p:cNvCxnSpPr/>
          <p:nvPr/>
        </p:nvCxnSpPr>
        <p:spPr>
          <a:xfrm>
            <a:off x="3984498" y="2619756"/>
            <a:ext cx="1193292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3" name="Google Shape;743;p31"/>
          <p:cNvSpPr txBox="1"/>
          <p:nvPr/>
        </p:nvSpPr>
        <p:spPr>
          <a:xfrm>
            <a:off x="3970782" y="2770632"/>
            <a:ext cx="122072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Tool success / task completion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1"/>
          <p:cNvSpPr/>
          <p:nvPr/>
        </p:nvSpPr>
        <p:spPr>
          <a:xfrm>
            <a:off x="5541264" y="1508760"/>
            <a:ext cx="1440180" cy="174879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1"/>
          <p:cNvSpPr/>
          <p:nvPr/>
        </p:nvSpPr>
        <p:spPr>
          <a:xfrm>
            <a:off x="5548122" y="1522476"/>
            <a:ext cx="1426464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1"/>
          <p:cNvSpPr txBox="1"/>
          <p:nvPr/>
        </p:nvSpPr>
        <p:spPr>
          <a:xfrm>
            <a:off x="5630418" y="1673352"/>
            <a:ext cx="1261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A746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3A746"/>
                </a:solidFill>
                <a:latin typeface="Arial"/>
                <a:ea typeface="Arial"/>
                <a:cs typeface="Arial"/>
                <a:sym typeface="Arial"/>
              </a:rPr>
              <a:t>SAFETY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31"/>
          <p:cNvSpPr txBox="1"/>
          <p:nvPr/>
        </p:nvSpPr>
        <p:spPr>
          <a:xfrm>
            <a:off x="5650992" y="2036826"/>
            <a:ext cx="1220724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 ação ficou dentro dos limites?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8" name="Google Shape;748;p31"/>
          <p:cNvCxnSpPr/>
          <p:nvPr/>
        </p:nvCxnSpPr>
        <p:spPr>
          <a:xfrm>
            <a:off x="5664708" y="2619756"/>
            <a:ext cx="1193292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9" name="Google Shape;749;p31"/>
          <p:cNvSpPr txBox="1"/>
          <p:nvPr/>
        </p:nvSpPr>
        <p:spPr>
          <a:xfrm>
            <a:off x="5650992" y="2770632"/>
            <a:ext cx="122072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Violações / recusas / escalonamentos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31"/>
          <p:cNvSpPr/>
          <p:nvPr/>
        </p:nvSpPr>
        <p:spPr>
          <a:xfrm>
            <a:off x="7221474" y="1508760"/>
            <a:ext cx="1440180" cy="174879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1"/>
          <p:cNvSpPr/>
          <p:nvPr/>
        </p:nvSpPr>
        <p:spPr>
          <a:xfrm>
            <a:off x="7228332" y="1522476"/>
            <a:ext cx="1426464" cy="37719"/>
          </a:xfrm>
          <a:prstGeom prst="rect">
            <a:avLst/>
          </a:prstGeom>
          <a:solidFill>
            <a:srgbClr val="289B77"/>
          </a:solidFill>
          <a:ln cap="flat" cmpd="sng" w="9525">
            <a:solidFill>
              <a:srgbClr val="289B7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1"/>
          <p:cNvSpPr txBox="1"/>
          <p:nvPr/>
        </p:nvSpPr>
        <p:spPr>
          <a:xfrm>
            <a:off x="7310628" y="1673352"/>
            <a:ext cx="1261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9B7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89B77"/>
                </a:solidFill>
                <a:latin typeface="Arial"/>
                <a:ea typeface="Arial"/>
                <a:cs typeface="Arial"/>
                <a:sym typeface="Arial"/>
              </a:rPr>
              <a:t>OPERAÇÃO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1"/>
          <p:cNvSpPr txBox="1"/>
          <p:nvPr/>
        </p:nvSpPr>
        <p:spPr>
          <a:xfrm>
            <a:off x="7331202" y="2036826"/>
            <a:ext cx="1220724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O serviço é sustentável?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4" name="Google Shape;754;p31"/>
          <p:cNvCxnSpPr/>
          <p:nvPr/>
        </p:nvCxnSpPr>
        <p:spPr>
          <a:xfrm>
            <a:off x="7344918" y="2619756"/>
            <a:ext cx="1193292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5" name="Google Shape;755;p31"/>
          <p:cNvSpPr txBox="1"/>
          <p:nvPr/>
        </p:nvSpPr>
        <p:spPr>
          <a:xfrm>
            <a:off x="7331202" y="2770632"/>
            <a:ext cx="122072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Latência / custo / erros / drift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31"/>
          <p:cNvSpPr/>
          <p:nvPr/>
        </p:nvSpPr>
        <p:spPr>
          <a:xfrm>
            <a:off x="589788" y="3634740"/>
            <a:ext cx="7955280" cy="562356"/>
          </a:xfrm>
          <a:prstGeom prst="roundRect">
            <a:avLst>
              <a:gd fmla="val 14634" name="adj"/>
            </a:avLst>
          </a:prstGeom>
          <a:solidFill>
            <a:srgbClr val="142238"/>
          </a:solidFill>
          <a:ln cap="flat" cmpd="sng" w="10150">
            <a:solidFill>
              <a:srgbClr val="142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1"/>
          <p:cNvSpPr txBox="1"/>
          <p:nvPr/>
        </p:nvSpPr>
        <p:spPr>
          <a:xfrm>
            <a:off x="754380" y="3799332"/>
            <a:ext cx="76123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Monitore tendências, não apenas médias: latência p95, falhas por estágio e casos de alto impacto.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1"/>
          <p:cNvSpPr txBox="1"/>
          <p:nvPr/>
        </p:nvSpPr>
        <p:spPr>
          <a:xfrm>
            <a:off x="411480" y="4738878"/>
            <a:ext cx="781812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8A95A5"/>
                </a:solidFill>
                <a:latin typeface="Arial"/>
                <a:ea typeface="Arial"/>
                <a:cs typeface="Arial"/>
                <a:sym typeface="Arial"/>
              </a:rPr>
              <a:t>Síntese dos critérios de avaliação usados nos tópicos de RAG, agentes e validação objetiva.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1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2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2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08 / SEGURANÇA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2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Guardrails: restrinja o espaço de falhas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32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Segurança não é apenas um filtro no prompt — é uma propriedade da arquitetura e da operação.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9" name="Google Shape;769;p32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0" name="Google Shape;770;p32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32"/>
          <p:cNvSpPr/>
          <p:nvPr/>
        </p:nvSpPr>
        <p:spPr>
          <a:xfrm>
            <a:off x="493776" y="1351026"/>
            <a:ext cx="2606040" cy="932688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2"/>
          <p:cNvSpPr/>
          <p:nvPr/>
        </p:nvSpPr>
        <p:spPr>
          <a:xfrm>
            <a:off x="500634" y="1364742"/>
            <a:ext cx="2592324" cy="37719"/>
          </a:xfrm>
          <a:prstGeom prst="rect">
            <a:avLst/>
          </a:prstGeom>
          <a:solidFill>
            <a:srgbClr val="E76565"/>
          </a:solidFill>
          <a:ln cap="flat" cmpd="sng" w="9525">
            <a:solidFill>
              <a:srgbClr val="E7656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2"/>
          <p:cNvSpPr txBox="1"/>
          <p:nvPr/>
        </p:nvSpPr>
        <p:spPr>
          <a:xfrm>
            <a:off x="630936" y="1474470"/>
            <a:ext cx="23317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Prompt injection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32"/>
          <p:cNvSpPr txBox="1"/>
          <p:nvPr/>
        </p:nvSpPr>
        <p:spPr>
          <a:xfrm>
            <a:off x="630936" y="1741932"/>
            <a:ext cx="2304288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Conteúdo recuperado tenta mudar instruções.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32"/>
          <p:cNvSpPr/>
          <p:nvPr/>
        </p:nvSpPr>
        <p:spPr>
          <a:xfrm>
            <a:off x="3264408" y="1351026"/>
            <a:ext cx="2606040" cy="932688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2"/>
          <p:cNvSpPr/>
          <p:nvPr/>
        </p:nvSpPr>
        <p:spPr>
          <a:xfrm>
            <a:off x="3271266" y="1364742"/>
            <a:ext cx="2592324" cy="37719"/>
          </a:xfrm>
          <a:prstGeom prst="rect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2"/>
          <p:cNvSpPr txBox="1"/>
          <p:nvPr/>
        </p:nvSpPr>
        <p:spPr>
          <a:xfrm>
            <a:off x="3401568" y="1474470"/>
            <a:ext cx="23317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Alucinação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32"/>
          <p:cNvSpPr txBox="1"/>
          <p:nvPr/>
        </p:nvSpPr>
        <p:spPr>
          <a:xfrm>
            <a:off x="3401568" y="1741932"/>
            <a:ext cx="2304288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Afirmações sem suporte em evidência.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6035040" y="1351026"/>
            <a:ext cx="2606040" cy="932688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2"/>
          <p:cNvSpPr/>
          <p:nvPr/>
        </p:nvSpPr>
        <p:spPr>
          <a:xfrm>
            <a:off x="6041898" y="1364742"/>
            <a:ext cx="2592324" cy="37719"/>
          </a:xfrm>
          <a:prstGeom prst="rect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2"/>
          <p:cNvSpPr txBox="1"/>
          <p:nvPr/>
        </p:nvSpPr>
        <p:spPr>
          <a:xfrm>
            <a:off x="6172200" y="1474470"/>
            <a:ext cx="23317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Tool misuse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2"/>
          <p:cNvSpPr txBox="1"/>
          <p:nvPr/>
        </p:nvSpPr>
        <p:spPr>
          <a:xfrm>
            <a:off x="6172200" y="1741932"/>
            <a:ext cx="2304288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Chamada perigosa ou argumentos inválidos.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32"/>
          <p:cNvSpPr/>
          <p:nvPr/>
        </p:nvSpPr>
        <p:spPr>
          <a:xfrm>
            <a:off x="493776" y="2503170"/>
            <a:ext cx="2606040" cy="932688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2"/>
          <p:cNvSpPr/>
          <p:nvPr/>
        </p:nvSpPr>
        <p:spPr>
          <a:xfrm>
            <a:off x="500634" y="2516886"/>
            <a:ext cx="2592324" cy="37719"/>
          </a:xfrm>
          <a:prstGeom prst="rect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2"/>
          <p:cNvSpPr txBox="1"/>
          <p:nvPr/>
        </p:nvSpPr>
        <p:spPr>
          <a:xfrm>
            <a:off x="630936" y="2626614"/>
            <a:ext cx="23317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Data leakage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32"/>
          <p:cNvSpPr txBox="1"/>
          <p:nvPr/>
        </p:nvSpPr>
        <p:spPr>
          <a:xfrm>
            <a:off x="630936" y="2894076"/>
            <a:ext cx="2304288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Memória / contexto expõe dados indevidos.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2"/>
          <p:cNvSpPr/>
          <p:nvPr/>
        </p:nvSpPr>
        <p:spPr>
          <a:xfrm>
            <a:off x="3264408" y="2503170"/>
            <a:ext cx="2606040" cy="932688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2"/>
          <p:cNvSpPr/>
          <p:nvPr/>
        </p:nvSpPr>
        <p:spPr>
          <a:xfrm>
            <a:off x="3271266" y="2516886"/>
            <a:ext cx="2592324" cy="37719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2"/>
          <p:cNvSpPr txBox="1"/>
          <p:nvPr/>
        </p:nvSpPr>
        <p:spPr>
          <a:xfrm>
            <a:off x="3401568" y="2626614"/>
            <a:ext cx="23317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Loop agentivo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2"/>
          <p:cNvSpPr txBox="1"/>
          <p:nvPr/>
        </p:nvSpPr>
        <p:spPr>
          <a:xfrm>
            <a:off x="3401568" y="2894076"/>
            <a:ext cx="2304288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Chamadas repetidas, custo e latência sem fim.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2"/>
          <p:cNvSpPr/>
          <p:nvPr/>
        </p:nvSpPr>
        <p:spPr>
          <a:xfrm>
            <a:off x="6035040" y="2503170"/>
            <a:ext cx="2606040" cy="932688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2"/>
          <p:cNvSpPr/>
          <p:nvPr/>
        </p:nvSpPr>
        <p:spPr>
          <a:xfrm>
            <a:off x="6041898" y="2516886"/>
            <a:ext cx="2592324" cy="37719"/>
          </a:xfrm>
          <a:prstGeom prst="rect">
            <a:avLst/>
          </a:prstGeom>
          <a:solidFill>
            <a:srgbClr val="289B77"/>
          </a:solidFill>
          <a:ln cap="flat" cmpd="sng" w="9525">
            <a:solidFill>
              <a:srgbClr val="289B7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2"/>
          <p:cNvSpPr txBox="1"/>
          <p:nvPr/>
        </p:nvSpPr>
        <p:spPr>
          <a:xfrm>
            <a:off x="6172200" y="2626614"/>
            <a:ext cx="23317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Saída malformada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32"/>
          <p:cNvSpPr txBox="1"/>
          <p:nvPr/>
        </p:nvSpPr>
        <p:spPr>
          <a:xfrm>
            <a:off x="6172200" y="2894076"/>
            <a:ext cx="2304288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JSON inválido ou regra fora do schema.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562356" y="3751326"/>
            <a:ext cx="8023860" cy="534924"/>
          </a:xfrm>
          <a:prstGeom prst="roundRect">
            <a:avLst>
              <a:gd fmla="val 16667" name="adj"/>
            </a:avLst>
          </a:prstGeom>
          <a:solidFill>
            <a:srgbClr val="FDE8E8"/>
          </a:solidFill>
          <a:ln cap="flat" cmpd="sng" w="9525">
            <a:solidFill>
              <a:srgbClr val="FDE8E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2"/>
          <p:cNvSpPr txBox="1"/>
          <p:nvPr/>
        </p:nvSpPr>
        <p:spPr>
          <a:xfrm>
            <a:off x="713232" y="3867912"/>
            <a:ext cx="77152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3333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8C3333"/>
                </a:solidFill>
                <a:latin typeface="Arial"/>
                <a:ea typeface="Arial"/>
                <a:cs typeface="Arial"/>
                <a:sym typeface="Arial"/>
              </a:rPr>
              <a:t>Controles concretos: isolamento de instruções, allowlist de tools, schemas, permissões mínimas, limites de loop e revisão humana para ações críticas.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2"/>
          <p:cNvSpPr txBox="1"/>
          <p:nvPr/>
        </p:nvSpPr>
        <p:spPr>
          <a:xfrm>
            <a:off x="411480" y="4738878"/>
            <a:ext cx="781812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8A95A5"/>
                </a:solidFill>
                <a:latin typeface="Arial"/>
                <a:ea typeface="Arial"/>
                <a:cs typeface="Arial"/>
                <a:sym typeface="Arial"/>
              </a:rPr>
              <a:t>Reforço de segurança: agentes propõem; código confiável valida e executa.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32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3"/>
          <p:cNvSpPr/>
          <p:nvPr/>
        </p:nvSpPr>
        <p:spPr>
          <a:xfrm>
            <a:off x="0" y="0"/>
            <a:ext cx="9143700" cy="6870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3"/>
          <p:cNvSpPr txBox="1"/>
          <p:nvPr/>
        </p:nvSpPr>
        <p:spPr>
          <a:xfrm>
            <a:off x="397764" y="198882"/>
            <a:ext cx="301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08 / SEGURANÇA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33"/>
          <p:cNvSpPr txBox="1"/>
          <p:nvPr/>
        </p:nvSpPr>
        <p:spPr>
          <a:xfrm>
            <a:off x="397764" y="384048"/>
            <a:ext cx="82983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Guardrails: restrinja o espaço de falhas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33"/>
          <p:cNvSpPr txBox="1"/>
          <p:nvPr/>
        </p:nvSpPr>
        <p:spPr>
          <a:xfrm>
            <a:off x="411480" y="809244"/>
            <a:ext cx="82296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Segurança não é apenas um filtro no prompt — é uma propriedade da arquitetura e da operação.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8" name="Google Shape;808;p33"/>
          <p:cNvCxnSpPr/>
          <p:nvPr/>
        </p:nvCxnSpPr>
        <p:spPr>
          <a:xfrm>
            <a:off x="397764" y="1083564"/>
            <a:ext cx="8352900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9" name="Google Shape;809;p33"/>
          <p:cNvSpPr txBox="1"/>
          <p:nvPr/>
        </p:nvSpPr>
        <p:spPr>
          <a:xfrm>
            <a:off x="8366760" y="4917186"/>
            <a:ext cx="3771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33"/>
          <p:cNvSpPr txBox="1"/>
          <p:nvPr/>
        </p:nvSpPr>
        <p:spPr>
          <a:xfrm>
            <a:off x="411480" y="4738878"/>
            <a:ext cx="78180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8A95A5"/>
                </a:solidFill>
                <a:latin typeface="Arial"/>
                <a:ea typeface="Arial"/>
                <a:cs typeface="Arial"/>
                <a:sym typeface="Arial"/>
              </a:rPr>
              <a:t>Reforço de segurança: agentes propõem; código confiável valida e executa.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3"/>
          <p:cNvSpPr txBox="1"/>
          <p:nvPr>
            <p:ph idx="4294967295" type="sldNum"/>
          </p:nvPr>
        </p:nvSpPr>
        <p:spPr>
          <a:xfrm>
            <a:off x="8435340" y="4903470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2" name="Google Shape;8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2838" y="1194744"/>
            <a:ext cx="4766864" cy="339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4"/>
          <p:cNvSpPr/>
          <p:nvPr/>
        </p:nvSpPr>
        <p:spPr>
          <a:xfrm>
            <a:off x="0" y="0"/>
            <a:ext cx="9143700" cy="6870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4"/>
          <p:cNvSpPr txBox="1"/>
          <p:nvPr/>
        </p:nvSpPr>
        <p:spPr>
          <a:xfrm>
            <a:off x="397764" y="198882"/>
            <a:ext cx="301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11 / QUIZ DE REVISÃO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4"/>
          <p:cNvSpPr txBox="1"/>
          <p:nvPr/>
        </p:nvSpPr>
        <p:spPr>
          <a:xfrm>
            <a:off x="397764" y="384048"/>
            <a:ext cx="82983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Seis perguntas para fechar a disciplina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34"/>
          <p:cNvSpPr txBox="1"/>
          <p:nvPr/>
        </p:nvSpPr>
        <p:spPr>
          <a:xfrm>
            <a:off x="411480" y="809244"/>
            <a:ext cx="82296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Peça que a turma responda antes de revelar as respostas no próximo slide.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2" name="Google Shape;822;p34"/>
          <p:cNvCxnSpPr/>
          <p:nvPr/>
        </p:nvCxnSpPr>
        <p:spPr>
          <a:xfrm>
            <a:off x="397764" y="1083564"/>
            <a:ext cx="8352900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3" name="Google Shape;823;p34"/>
          <p:cNvSpPr txBox="1"/>
          <p:nvPr/>
        </p:nvSpPr>
        <p:spPr>
          <a:xfrm>
            <a:off x="8366760" y="4917186"/>
            <a:ext cx="3771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34"/>
          <p:cNvSpPr/>
          <p:nvPr/>
        </p:nvSpPr>
        <p:spPr>
          <a:xfrm>
            <a:off x="603504" y="1357884"/>
            <a:ext cx="246900" cy="246900"/>
          </a:xfrm>
          <a:prstGeom prst="ellipse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4"/>
          <p:cNvSpPr txBox="1"/>
          <p:nvPr/>
        </p:nvSpPr>
        <p:spPr>
          <a:xfrm>
            <a:off x="603504" y="1361313"/>
            <a:ext cx="246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34"/>
          <p:cNvSpPr txBox="1"/>
          <p:nvPr/>
        </p:nvSpPr>
        <p:spPr>
          <a:xfrm>
            <a:off x="980694" y="1330452"/>
            <a:ext cx="7440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1. Qual métrica ajuda a detectar afirmações sem suporte no contexto RAG?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7" name="Google Shape;827;p34"/>
          <p:cNvCxnSpPr/>
          <p:nvPr/>
        </p:nvCxnSpPr>
        <p:spPr>
          <a:xfrm>
            <a:off x="973836" y="1721358"/>
            <a:ext cx="7379100" cy="0"/>
          </a:xfrm>
          <a:prstGeom prst="straightConnector1">
            <a:avLst/>
          </a:prstGeom>
          <a:noFill/>
          <a:ln cap="flat" cmpd="sng" w="9525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8" name="Google Shape;828;p34"/>
          <p:cNvSpPr/>
          <p:nvPr/>
        </p:nvSpPr>
        <p:spPr>
          <a:xfrm>
            <a:off x="603504" y="1858518"/>
            <a:ext cx="246900" cy="246900"/>
          </a:xfrm>
          <a:prstGeom prst="ellipse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4"/>
          <p:cNvSpPr txBox="1"/>
          <p:nvPr/>
        </p:nvSpPr>
        <p:spPr>
          <a:xfrm>
            <a:off x="603504" y="1861947"/>
            <a:ext cx="246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4"/>
          <p:cNvSpPr txBox="1"/>
          <p:nvPr/>
        </p:nvSpPr>
        <p:spPr>
          <a:xfrm>
            <a:off x="980694" y="1831086"/>
            <a:ext cx="7440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2. Qual é a diferença central entre AE e VAE?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1" name="Google Shape;831;p34"/>
          <p:cNvCxnSpPr/>
          <p:nvPr/>
        </p:nvCxnSpPr>
        <p:spPr>
          <a:xfrm>
            <a:off x="973836" y="2221992"/>
            <a:ext cx="7379100" cy="0"/>
          </a:xfrm>
          <a:prstGeom prst="straightConnector1">
            <a:avLst/>
          </a:prstGeom>
          <a:noFill/>
          <a:ln cap="flat" cmpd="sng" w="9525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2" name="Google Shape;832;p34"/>
          <p:cNvSpPr/>
          <p:nvPr/>
        </p:nvSpPr>
        <p:spPr>
          <a:xfrm>
            <a:off x="603504" y="2359152"/>
            <a:ext cx="246900" cy="246900"/>
          </a:xfrm>
          <a:prstGeom prst="ellipse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4"/>
          <p:cNvSpPr txBox="1"/>
          <p:nvPr/>
        </p:nvSpPr>
        <p:spPr>
          <a:xfrm>
            <a:off x="603504" y="2362581"/>
            <a:ext cx="246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4"/>
          <p:cNvSpPr txBox="1"/>
          <p:nvPr/>
        </p:nvSpPr>
        <p:spPr>
          <a:xfrm>
            <a:off x="980694" y="2331720"/>
            <a:ext cx="7440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3. Por que o treinamento de uma GAN pode ficar instável?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5" name="Google Shape;835;p34"/>
          <p:cNvCxnSpPr/>
          <p:nvPr/>
        </p:nvCxnSpPr>
        <p:spPr>
          <a:xfrm>
            <a:off x="973836" y="2722626"/>
            <a:ext cx="7379100" cy="0"/>
          </a:xfrm>
          <a:prstGeom prst="straightConnector1">
            <a:avLst/>
          </a:prstGeom>
          <a:noFill/>
          <a:ln cap="flat" cmpd="sng" w="9525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6" name="Google Shape;836;p34"/>
          <p:cNvSpPr/>
          <p:nvPr/>
        </p:nvSpPr>
        <p:spPr>
          <a:xfrm>
            <a:off x="603504" y="2859786"/>
            <a:ext cx="246900" cy="246900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4"/>
          <p:cNvSpPr txBox="1"/>
          <p:nvPr/>
        </p:nvSpPr>
        <p:spPr>
          <a:xfrm>
            <a:off x="603504" y="2863215"/>
            <a:ext cx="246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4"/>
          <p:cNvSpPr txBox="1"/>
          <p:nvPr/>
        </p:nvSpPr>
        <p:spPr>
          <a:xfrm>
            <a:off x="980694" y="2832354"/>
            <a:ext cx="7440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4. Em difusão, qual processo a rede aprende a reverter?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9" name="Google Shape;839;p34"/>
          <p:cNvCxnSpPr/>
          <p:nvPr/>
        </p:nvCxnSpPr>
        <p:spPr>
          <a:xfrm>
            <a:off x="973836" y="3223260"/>
            <a:ext cx="7379100" cy="0"/>
          </a:xfrm>
          <a:prstGeom prst="straightConnector1">
            <a:avLst/>
          </a:prstGeom>
          <a:noFill/>
          <a:ln cap="flat" cmpd="sng" w="9525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0" name="Google Shape;840;p34"/>
          <p:cNvSpPr/>
          <p:nvPr/>
        </p:nvSpPr>
        <p:spPr>
          <a:xfrm>
            <a:off x="603504" y="3360420"/>
            <a:ext cx="246900" cy="246900"/>
          </a:xfrm>
          <a:prstGeom prst="ellipse">
            <a:avLst/>
          </a:prstGeom>
          <a:solidFill>
            <a:srgbClr val="289B77"/>
          </a:solidFill>
          <a:ln cap="flat" cmpd="sng" w="9525">
            <a:solidFill>
              <a:srgbClr val="289B7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4"/>
          <p:cNvSpPr txBox="1"/>
          <p:nvPr/>
        </p:nvSpPr>
        <p:spPr>
          <a:xfrm>
            <a:off x="603504" y="3363849"/>
            <a:ext cx="246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4"/>
          <p:cNvSpPr txBox="1"/>
          <p:nvPr/>
        </p:nvSpPr>
        <p:spPr>
          <a:xfrm>
            <a:off x="980694" y="3332988"/>
            <a:ext cx="7440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5. O que torna tool calling diferente de gerar texto livre?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3" name="Google Shape;843;p34"/>
          <p:cNvCxnSpPr/>
          <p:nvPr/>
        </p:nvCxnSpPr>
        <p:spPr>
          <a:xfrm>
            <a:off x="973836" y="3723894"/>
            <a:ext cx="7379100" cy="0"/>
          </a:xfrm>
          <a:prstGeom prst="straightConnector1">
            <a:avLst/>
          </a:prstGeom>
          <a:noFill/>
          <a:ln cap="flat" cmpd="sng" w="9525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4" name="Google Shape;844;p34"/>
          <p:cNvSpPr/>
          <p:nvPr/>
        </p:nvSpPr>
        <p:spPr>
          <a:xfrm>
            <a:off x="603504" y="3861054"/>
            <a:ext cx="246900" cy="246900"/>
          </a:xfrm>
          <a:prstGeom prst="ellipse">
            <a:avLst/>
          </a:prstGeom>
          <a:solidFill>
            <a:srgbClr val="E76565"/>
          </a:solidFill>
          <a:ln cap="flat" cmpd="sng" w="9525">
            <a:solidFill>
              <a:srgbClr val="E7656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4"/>
          <p:cNvSpPr txBox="1"/>
          <p:nvPr/>
        </p:nvSpPr>
        <p:spPr>
          <a:xfrm>
            <a:off x="603504" y="3864483"/>
            <a:ext cx="246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34"/>
          <p:cNvSpPr txBox="1"/>
          <p:nvPr/>
        </p:nvSpPr>
        <p:spPr>
          <a:xfrm>
            <a:off x="980694" y="3833622"/>
            <a:ext cx="7440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6. Por que um sistema multiagente precisa de estado e validação?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34"/>
          <p:cNvSpPr txBox="1"/>
          <p:nvPr/>
        </p:nvSpPr>
        <p:spPr>
          <a:xfrm>
            <a:off x="685800" y="4423410"/>
            <a:ext cx="7783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75F7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9275F7"/>
                </a:solidFill>
                <a:latin typeface="Arial"/>
                <a:ea typeface="Arial"/>
                <a:cs typeface="Arial"/>
                <a:sym typeface="Arial"/>
              </a:rPr>
              <a:t>Bônus: em que situação RAG é uma escolha melhor do que fine-tuning?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34"/>
          <p:cNvSpPr txBox="1"/>
          <p:nvPr>
            <p:ph idx="4294967295" type="sldNum"/>
          </p:nvPr>
        </p:nvSpPr>
        <p:spPr>
          <a:xfrm>
            <a:off x="8435340" y="4903470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5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5"/>
          <p:cNvSpPr txBox="1"/>
          <p:nvPr/>
        </p:nvSpPr>
        <p:spPr>
          <a:xfrm>
            <a:off x="397764" y="198882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11 / QUIZ DE REVISÃO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35"/>
          <p:cNvSpPr txBox="1"/>
          <p:nvPr/>
        </p:nvSpPr>
        <p:spPr>
          <a:xfrm>
            <a:off x="397764" y="384048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100"/>
              <a:buFont typeface="Play"/>
              <a:buNone/>
            </a:pPr>
            <a:r>
              <a:rPr b="1" i="0" lang="pt-BR" sz="21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Gabarito comentado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5"/>
          <p:cNvSpPr txBox="1"/>
          <p:nvPr/>
        </p:nvSpPr>
        <p:spPr>
          <a:xfrm>
            <a:off x="411480" y="809244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O objetivo é conectar cada conceito a uma decisão prática de engenharia.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8" name="Google Shape;858;p35"/>
          <p:cNvCxnSpPr/>
          <p:nvPr/>
        </p:nvCxnSpPr>
        <p:spPr>
          <a:xfrm>
            <a:off x="397764" y="1083564"/>
            <a:ext cx="8353044" cy="0"/>
          </a:xfrm>
          <a:prstGeom prst="straightConnector1">
            <a:avLst/>
          </a:prstGeom>
          <a:noFill/>
          <a:ln cap="flat" cmpd="sng" w="10150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9" name="Google Shape;859;p35"/>
          <p:cNvSpPr txBox="1"/>
          <p:nvPr/>
        </p:nvSpPr>
        <p:spPr>
          <a:xfrm>
            <a:off x="8366760" y="4917186"/>
            <a:ext cx="37719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758A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68758A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5"/>
          <p:cNvSpPr/>
          <p:nvPr/>
        </p:nvSpPr>
        <p:spPr>
          <a:xfrm>
            <a:off x="596646" y="1337310"/>
            <a:ext cx="233172" cy="233172"/>
          </a:xfrm>
          <a:prstGeom prst="ellipse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5"/>
          <p:cNvSpPr txBox="1"/>
          <p:nvPr/>
        </p:nvSpPr>
        <p:spPr>
          <a:xfrm>
            <a:off x="596646" y="1340739"/>
            <a:ext cx="233172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5"/>
          <p:cNvSpPr txBox="1"/>
          <p:nvPr/>
        </p:nvSpPr>
        <p:spPr>
          <a:xfrm>
            <a:off x="946404" y="1289304"/>
            <a:ext cx="174879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Fidelidade / faithfulness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5"/>
          <p:cNvSpPr txBox="1"/>
          <p:nvPr/>
        </p:nvSpPr>
        <p:spPr>
          <a:xfrm>
            <a:off x="2708910" y="1289304"/>
            <a:ext cx="5623560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Compara as afirmações da resposta com o contexto disponível.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4" name="Google Shape;864;p35"/>
          <p:cNvCxnSpPr/>
          <p:nvPr/>
        </p:nvCxnSpPr>
        <p:spPr>
          <a:xfrm>
            <a:off x="939546" y="1673352"/>
            <a:ext cx="7413498" cy="0"/>
          </a:xfrm>
          <a:prstGeom prst="straightConnector1">
            <a:avLst/>
          </a:prstGeom>
          <a:noFill/>
          <a:ln cap="flat" cmpd="sng" w="9525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5" name="Google Shape;865;p35"/>
          <p:cNvSpPr/>
          <p:nvPr/>
        </p:nvSpPr>
        <p:spPr>
          <a:xfrm>
            <a:off x="596646" y="1831086"/>
            <a:ext cx="233172" cy="233172"/>
          </a:xfrm>
          <a:prstGeom prst="ellipse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5"/>
          <p:cNvSpPr txBox="1"/>
          <p:nvPr/>
        </p:nvSpPr>
        <p:spPr>
          <a:xfrm>
            <a:off x="596646" y="1834515"/>
            <a:ext cx="233172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5"/>
          <p:cNvSpPr txBox="1"/>
          <p:nvPr/>
        </p:nvSpPr>
        <p:spPr>
          <a:xfrm>
            <a:off x="946404" y="1783080"/>
            <a:ext cx="174879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Distribuição latente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5"/>
          <p:cNvSpPr txBox="1"/>
          <p:nvPr/>
        </p:nvSpPr>
        <p:spPr>
          <a:xfrm>
            <a:off x="2708910" y="1783080"/>
            <a:ext cx="5623560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AE mapeia para um código; VAE aprende parâmetros de uma distribuição e regulariza o espaço latente.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9" name="Google Shape;869;p35"/>
          <p:cNvCxnSpPr/>
          <p:nvPr/>
        </p:nvCxnSpPr>
        <p:spPr>
          <a:xfrm>
            <a:off x="939546" y="2167128"/>
            <a:ext cx="7413498" cy="0"/>
          </a:xfrm>
          <a:prstGeom prst="straightConnector1">
            <a:avLst/>
          </a:prstGeom>
          <a:noFill/>
          <a:ln cap="flat" cmpd="sng" w="9525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0" name="Google Shape;870;p35"/>
          <p:cNvSpPr/>
          <p:nvPr/>
        </p:nvSpPr>
        <p:spPr>
          <a:xfrm>
            <a:off x="596646" y="2324862"/>
            <a:ext cx="233172" cy="233172"/>
          </a:xfrm>
          <a:prstGeom prst="ellipse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35"/>
          <p:cNvSpPr txBox="1"/>
          <p:nvPr/>
        </p:nvSpPr>
        <p:spPr>
          <a:xfrm>
            <a:off x="596646" y="2328291"/>
            <a:ext cx="233172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35"/>
          <p:cNvSpPr txBox="1"/>
          <p:nvPr/>
        </p:nvSpPr>
        <p:spPr>
          <a:xfrm>
            <a:off x="946404" y="2276856"/>
            <a:ext cx="174879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Jogo adversarial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35"/>
          <p:cNvSpPr txBox="1"/>
          <p:nvPr/>
        </p:nvSpPr>
        <p:spPr>
          <a:xfrm>
            <a:off x="2708910" y="2276856"/>
            <a:ext cx="5623560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Gerador e discriminador se atualizam em competição; o equilíbrio pode ser difícil e ocorrer mode collapse.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4" name="Google Shape;874;p35"/>
          <p:cNvCxnSpPr/>
          <p:nvPr/>
        </p:nvCxnSpPr>
        <p:spPr>
          <a:xfrm>
            <a:off x="939546" y="2660904"/>
            <a:ext cx="7413498" cy="0"/>
          </a:xfrm>
          <a:prstGeom prst="straightConnector1">
            <a:avLst/>
          </a:prstGeom>
          <a:noFill/>
          <a:ln cap="flat" cmpd="sng" w="9525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5" name="Google Shape;875;p35"/>
          <p:cNvSpPr/>
          <p:nvPr/>
        </p:nvSpPr>
        <p:spPr>
          <a:xfrm>
            <a:off x="596646" y="2818638"/>
            <a:ext cx="233172" cy="233172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5"/>
          <p:cNvSpPr txBox="1"/>
          <p:nvPr/>
        </p:nvSpPr>
        <p:spPr>
          <a:xfrm>
            <a:off x="596646" y="2822067"/>
            <a:ext cx="233172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5"/>
          <p:cNvSpPr txBox="1"/>
          <p:nvPr/>
        </p:nvSpPr>
        <p:spPr>
          <a:xfrm>
            <a:off x="946404" y="2770632"/>
            <a:ext cx="174879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Adição gradual de ruído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35"/>
          <p:cNvSpPr txBox="1"/>
          <p:nvPr/>
        </p:nvSpPr>
        <p:spPr>
          <a:xfrm>
            <a:off x="2708910" y="2770632"/>
            <a:ext cx="5623560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A rede aprende a estimar/remover o ruído em etapas para amostrar dados.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9" name="Google Shape;879;p35"/>
          <p:cNvCxnSpPr/>
          <p:nvPr/>
        </p:nvCxnSpPr>
        <p:spPr>
          <a:xfrm>
            <a:off x="939546" y="3154680"/>
            <a:ext cx="7413498" cy="0"/>
          </a:xfrm>
          <a:prstGeom prst="straightConnector1">
            <a:avLst/>
          </a:prstGeom>
          <a:noFill/>
          <a:ln cap="flat" cmpd="sng" w="9525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0" name="Google Shape;880;p35"/>
          <p:cNvSpPr/>
          <p:nvPr/>
        </p:nvSpPr>
        <p:spPr>
          <a:xfrm>
            <a:off x="596646" y="3312414"/>
            <a:ext cx="233172" cy="233172"/>
          </a:xfrm>
          <a:prstGeom prst="ellipse">
            <a:avLst/>
          </a:prstGeom>
          <a:solidFill>
            <a:srgbClr val="289B77"/>
          </a:solidFill>
          <a:ln cap="flat" cmpd="sng" w="9525">
            <a:solidFill>
              <a:srgbClr val="289B7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5"/>
          <p:cNvSpPr txBox="1"/>
          <p:nvPr/>
        </p:nvSpPr>
        <p:spPr>
          <a:xfrm>
            <a:off x="596646" y="3315843"/>
            <a:ext cx="233172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5"/>
          <p:cNvSpPr txBox="1"/>
          <p:nvPr/>
        </p:nvSpPr>
        <p:spPr>
          <a:xfrm>
            <a:off x="946404" y="3264408"/>
            <a:ext cx="174879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Contrato estruturado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35"/>
          <p:cNvSpPr txBox="1"/>
          <p:nvPr/>
        </p:nvSpPr>
        <p:spPr>
          <a:xfrm>
            <a:off x="2708910" y="3264408"/>
            <a:ext cx="5623560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Tool calling usa nome + argumentos validados; a aplicação autoriza e executa.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4" name="Google Shape;884;p35"/>
          <p:cNvCxnSpPr/>
          <p:nvPr/>
        </p:nvCxnSpPr>
        <p:spPr>
          <a:xfrm>
            <a:off x="939546" y="3648456"/>
            <a:ext cx="7413498" cy="0"/>
          </a:xfrm>
          <a:prstGeom prst="straightConnector1">
            <a:avLst/>
          </a:prstGeom>
          <a:noFill/>
          <a:ln cap="flat" cmpd="sng" w="9525">
            <a:solidFill>
              <a:srgbClr val="DF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5" name="Google Shape;885;p35"/>
          <p:cNvSpPr/>
          <p:nvPr/>
        </p:nvSpPr>
        <p:spPr>
          <a:xfrm>
            <a:off x="596646" y="3806190"/>
            <a:ext cx="233172" cy="233172"/>
          </a:xfrm>
          <a:prstGeom prst="ellipse">
            <a:avLst/>
          </a:prstGeom>
          <a:solidFill>
            <a:srgbClr val="E76565"/>
          </a:solidFill>
          <a:ln cap="flat" cmpd="sng" w="9525">
            <a:solidFill>
              <a:srgbClr val="E7656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5"/>
          <p:cNvSpPr txBox="1"/>
          <p:nvPr/>
        </p:nvSpPr>
        <p:spPr>
          <a:xfrm>
            <a:off x="596646" y="3809619"/>
            <a:ext cx="233172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5"/>
          <p:cNvSpPr txBox="1"/>
          <p:nvPr/>
        </p:nvSpPr>
        <p:spPr>
          <a:xfrm>
            <a:off x="946404" y="3758184"/>
            <a:ext cx="174879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Coordenação confiável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5"/>
          <p:cNvSpPr txBox="1"/>
          <p:nvPr/>
        </p:nvSpPr>
        <p:spPr>
          <a:xfrm>
            <a:off x="2708910" y="3758184"/>
            <a:ext cx="5623560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149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33149"/>
                </a:solidFill>
                <a:latin typeface="Arial"/>
                <a:ea typeface="Arial"/>
                <a:cs typeface="Arial"/>
                <a:sym typeface="Arial"/>
              </a:rPr>
              <a:t>Estado mantém observações; validação garante formatos, métricas, limites e critérios de parada.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5"/>
          <p:cNvSpPr txBox="1"/>
          <p:nvPr/>
        </p:nvSpPr>
        <p:spPr>
          <a:xfrm>
            <a:off x="630936" y="4389120"/>
            <a:ext cx="788670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RAG tende a ser melhor quando o sistema precisa acessar informação externa, mutável ou rastreável.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5"/>
          <p:cNvSpPr txBox="1"/>
          <p:nvPr>
            <p:ph idx="4294967295" type="sldNum"/>
          </p:nvPr>
        </p:nvSpPr>
        <p:spPr>
          <a:xfrm>
            <a:off x="8435340" y="4903470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700" u="none" cap="none" strike="noStrike">
                <a:solidFill>
                  <a:srgbClr val="7A879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A87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6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6"/>
          <p:cNvSpPr txBox="1"/>
          <p:nvPr/>
        </p:nvSpPr>
        <p:spPr>
          <a:xfrm>
            <a:off x="493776" y="411480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3C7B7"/>
                </a:solidFill>
                <a:latin typeface="Arial"/>
                <a:ea typeface="Arial"/>
                <a:cs typeface="Arial"/>
                <a:sym typeface="Arial"/>
              </a:rPr>
              <a:t>ENCERRAMENTO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36"/>
          <p:cNvSpPr txBox="1"/>
          <p:nvPr/>
        </p:nvSpPr>
        <p:spPr>
          <a:xfrm>
            <a:off x="493776" y="740664"/>
            <a:ext cx="4423410" cy="1001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Modelos geram.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Sistemas entregam.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6"/>
          <p:cNvSpPr txBox="1"/>
          <p:nvPr/>
        </p:nvSpPr>
        <p:spPr>
          <a:xfrm>
            <a:off x="521208" y="1975104"/>
            <a:ext cx="43891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1E1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C5D1E1"/>
                </a:solidFill>
                <a:latin typeface="Arial"/>
                <a:ea typeface="Arial"/>
                <a:cs typeface="Arial"/>
                <a:sym typeface="Arial"/>
              </a:rPr>
              <a:t>Leve estes princípios para qualquer projeto de IA generativa: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6"/>
          <p:cNvSpPr/>
          <p:nvPr/>
        </p:nvSpPr>
        <p:spPr>
          <a:xfrm>
            <a:off x="548640" y="2345436"/>
            <a:ext cx="233172" cy="233172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36"/>
          <p:cNvSpPr txBox="1"/>
          <p:nvPr/>
        </p:nvSpPr>
        <p:spPr>
          <a:xfrm>
            <a:off x="548640" y="2348865"/>
            <a:ext cx="233172" cy="226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6"/>
          <p:cNvSpPr txBox="1"/>
          <p:nvPr/>
        </p:nvSpPr>
        <p:spPr>
          <a:xfrm>
            <a:off x="905256" y="2338578"/>
            <a:ext cx="418338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Meça por estágio: retrieval, geração, agente e operação.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6"/>
          <p:cNvSpPr/>
          <p:nvPr/>
        </p:nvSpPr>
        <p:spPr>
          <a:xfrm>
            <a:off x="548640" y="2722626"/>
            <a:ext cx="233172" cy="233172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6"/>
          <p:cNvSpPr txBox="1"/>
          <p:nvPr/>
        </p:nvSpPr>
        <p:spPr>
          <a:xfrm>
            <a:off x="548640" y="2726055"/>
            <a:ext cx="233172" cy="226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6"/>
          <p:cNvSpPr txBox="1"/>
          <p:nvPr/>
        </p:nvSpPr>
        <p:spPr>
          <a:xfrm>
            <a:off x="905256" y="2715768"/>
            <a:ext cx="418338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Mantenha ferramentas, dados e permissões sob controle determinístico.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6"/>
          <p:cNvSpPr/>
          <p:nvPr/>
        </p:nvSpPr>
        <p:spPr>
          <a:xfrm>
            <a:off x="548640" y="3099816"/>
            <a:ext cx="233172" cy="233172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6"/>
          <p:cNvSpPr txBox="1"/>
          <p:nvPr/>
        </p:nvSpPr>
        <p:spPr>
          <a:xfrm>
            <a:off x="548640" y="3103245"/>
            <a:ext cx="233172" cy="226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6"/>
          <p:cNvSpPr txBox="1"/>
          <p:nvPr/>
        </p:nvSpPr>
        <p:spPr>
          <a:xfrm>
            <a:off x="905256" y="3092958"/>
            <a:ext cx="418338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Prefira saídas estruturadas e verificáveis para decisões críticas.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6"/>
          <p:cNvSpPr/>
          <p:nvPr/>
        </p:nvSpPr>
        <p:spPr>
          <a:xfrm>
            <a:off x="548640" y="3477006"/>
            <a:ext cx="233172" cy="233172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6"/>
          <p:cNvSpPr txBox="1"/>
          <p:nvPr/>
        </p:nvSpPr>
        <p:spPr>
          <a:xfrm>
            <a:off x="548640" y="3480435"/>
            <a:ext cx="233172" cy="226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36"/>
          <p:cNvSpPr txBox="1"/>
          <p:nvPr/>
        </p:nvSpPr>
        <p:spPr>
          <a:xfrm>
            <a:off x="905256" y="3470148"/>
            <a:ext cx="418338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memória com política de relevância, retenção e acesso.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36"/>
          <p:cNvSpPr/>
          <p:nvPr/>
        </p:nvSpPr>
        <p:spPr>
          <a:xfrm>
            <a:off x="548640" y="3854196"/>
            <a:ext cx="233172" cy="233172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6"/>
          <p:cNvSpPr txBox="1"/>
          <p:nvPr/>
        </p:nvSpPr>
        <p:spPr>
          <a:xfrm>
            <a:off x="548640" y="3857625"/>
            <a:ext cx="233172" cy="226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6"/>
          <p:cNvSpPr txBox="1"/>
          <p:nvPr/>
        </p:nvSpPr>
        <p:spPr>
          <a:xfrm>
            <a:off x="905256" y="3847338"/>
            <a:ext cx="418338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Valide com casos difíceis, não apenas demos felizes.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5" name="Google Shape;915;p36"/>
          <p:cNvCxnSpPr/>
          <p:nvPr/>
        </p:nvCxnSpPr>
        <p:spPr>
          <a:xfrm>
            <a:off x="5314950" y="548640"/>
            <a:ext cx="0" cy="4046220"/>
          </a:xfrm>
          <a:prstGeom prst="straightConnector1">
            <a:avLst/>
          </a:prstGeom>
          <a:noFill/>
          <a:ln cap="flat" cmpd="sng" w="12700">
            <a:solidFill>
              <a:srgbClr val="3043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6" name="Google Shape;916;p36"/>
          <p:cNvSpPr txBox="1"/>
          <p:nvPr/>
        </p:nvSpPr>
        <p:spPr>
          <a:xfrm>
            <a:off x="5589270" y="733806"/>
            <a:ext cx="29832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A746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3A746"/>
                </a:solidFill>
                <a:latin typeface="Arial"/>
                <a:ea typeface="Arial"/>
                <a:cs typeface="Arial"/>
                <a:sym typeface="Arial"/>
              </a:rPr>
              <a:t>CONTINUE ESTUDANDO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6"/>
          <p:cNvSpPr txBox="1"/>
          <p:nvPr/>
        </p:nvSpPr>
        <p:spPr>
          <a:xfrm>
            <a:off x="5589270" y="1110996"/>
            <a:ext cx="29832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Repositório da disciplina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36">
            <a:hlinkClick r:id="rId3"/>
          </p:cNvPr>
          <p:cNvSpPr txBox="1"/>
          <p:nvPr/>
        </p:nvSpPr>
        <p:spPr>
          <a:xfrm>
            <a:off x="5589270" y="1426464"/>
            <a:ext cx="29832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E2D6"/>
              </a:buClr>
              <a:buSzPts val="900"/>
              <a:buFont typeface="Arial"/>
              <a:buNone/>
            </a:pPr>
            <a:r>
              <a:rPr b="0" i="0" lang="pt-BR" sz="9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github.com/mateusdalbone-fiap/fiap-genai-advnets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6"/>
          <p:cNvSpPr/>
          <p:nvPr/>
        </p:nvSpPr>
        <p:spPr>
          <a:xfrm>
            <a:off x="5623560" y="2043684"/>
            <a:ext cx="54864" cy="54864"/>
          </a:xfrm>
          <a:prstGeom prst="ellipse">
            <a:avLst/>
          </a:prstGeom>
          <a:solidFill>
            <a:srgbClr val="4F7DF3"/>
          </a:solidFill>
          <a:ln cap="flat" cmpd="sng" w="9525">
            <a:solidFill>
              <a:srgbClr val="4F7D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6"/>
          <p:cNvSpPr txBox="1"/>
          <p:nvPr/>
        </p:nvSpPr>
        <p:spPr>
          <a:xfrm>
            <a:off x="5781294" y="1988820"/>
            <a:ext cx="2708910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1EE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D7E1EE"/>
                </a:solidFill>
                <a:latin typeface="Arial"/>
                <a:ea typeface="Arial"/>
                <a:cs typeface="Arial"/>
                <a:sym typeface="Arial"/>
              </a:rPr>
              <a:t>Aula 01 — RAG Evaluation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36"/>
          <p:cNvSpPr/>
          <p:nvPr/>
        </p:nvSpPr>
        <p:spPr>
          <a:xfrm>
            <a:off x="5623560" y="2366010"/>
            <a:ext cx="54864" cy="54864"/>
          </a:xfrm>
          <a:prstGeom prst="ellipse">
            <a:avLst/>
          </a:prstGeom>
          <a:solidFill>
            <a:srgbClr val="9275F7"/>
          </a:solidFill>
          <a:ln cap="flat" cmpd="sng" w="9525">
            <a:solidFill>
              <a:srgbClr val="927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6"/>
          <p:cNvSpPr txBox="1"/>
          <p:nvPr/>
        </p:nvSpPr>
        <p:spPr>
          <a:xfrm>
            <a:off x="5781294" y="2311146"/>
            <a:ext cx="2708910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1EE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D7E1EE"/>
                </a:solidFill>
                <a:latin typeface="Arial"/>
                <a:ea typeface="Arial"/>
                <a:cs typeface="Arial"/>
                <a:sym typeface="Arial"/>
              </a:rPr>
              <a:t>Aula 03 — Autoencoders e VAE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6"/>
          <p:cNvSpPr/>
          <p:nvPr/>
        </p:nvSpPr>
        <p:spPr>
          <a:xfrm>
            <a:off x="5623560" y="2688336"/>
            <a:ext cx="54864" cy="54864"/>
          </a:xfrm>
          <a:prstGeom prst="ellipse">
            <a:avLst/>
          </a:prstGeom>
          <a:solidFill>
            <a:srgbClr val="F3A746"/>
          </a:solidFill>
          <a:ln cap="flat" cmpd="sng" w="9525">
            <a:solidFill>
              <a:srgbClr val="F3A7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6"/>
          <p:cNvSpPr txBox="1"/>
          <p:nvPr/>
        </p:nvSpPr>
        <p:spPr>
          <a:xfrm>
            <a:off x="5781294" y="2633472"/>
            <a:ext cx="2708910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1EE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D7E1EE"/>
                </a:solidFill>
                <a:latin typeface="Arial"/>
                <a:ea typeface="Arial"/>
                <a:cs typeface="Arial"/>
                <a:sym typeface="Arial"/>
              </a:rPr>
              <a:t>Aula 04 — GANs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6"/>
          <p:cNvSpPr/>
          <p:nvPr/>
        </p:nvSpPr>
        <p:spPr>
          <a:xfrm>
            <a:off x="5623560" y="3010662"/>
            <a:ext cx="54864" cy="54864"/>
          </a:xfrm>
          <a:prstGeom prst="ellipse">
            <a:avLst/>
          </a:prstGeom>
          <a:solidFill>
            <a:srgbClr val="23C7B7"/>
          </a:solidFill>
          <a:ln cap="flat" cmpd="sng" w="9525">
            <a:solidFill>
              <a:srgbClr val="23C7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6"/>
          <p:cNvSpPr txBox="1"/>
          <p:nvPr/>
        </p:nvSpPr>
        <p:spPr>
          <a:xfrm>
            <a:off x="5781294" y="2955798"/>
            <a:ext cx="2708910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1EE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D7E1EE"/>
                </a:solidFill>
                <a:latin typeface="Arial"/>
                <a:ea typeface="Arial"/>
                <a:cs typeface="Arial"/>
                <a:sym typeface="Arial"/>
              </a:rPr>
              <a:t>Aula 05 — Diffusion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36"/>
          <p:cNvSpPr/>
          <p:nvPr/>
        </p:nvSpPr>
        <p:spPr>
          <a:xfrm>
            <a:off x="5623560" y="3332988"/>
            <a:ext cx="54864" cy="54864"/>
          </a:xfrm>
          <a:prstGeom prst="ellipse">
            <a:avLst/>
          </a:prstGeom>
          <a:solidFill>
            <a:srgbClr val="289B77"/>
          </a:solidFill>
          <a:ln cap="flat" cmpd="sng" w="9525">
            <a:solidFill>
              <a:srgbClr val="289B7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6"/>
          <p:cNvSpPr txBox="1"/>
          <p:nvPr/>
        </p:nvSpPr>
        <p:spPr>
          <a:xfrm>
            <a:off x="5781294" y="3278124"/>
            <a:ext cx="2708910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1EE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D7E1EE"/>
                </a:solidFill>
                <a:latin typeface="Arial"/>
                <a:ea typeface="Arial"/>
                <a:cs typeface="Arial"/>
                <a:sym typeface="Arial"/>
              </a:rPr>
              <a:t>Aula 06 — Multi-Agent Systems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36"/>
          <p:cNvSpPr/>
          <p:nvPr/>
        </p:nvSpPr>
        <p:spPr>
          <a:xfrm>
            <a:off x="5623560" y="3655314"/>
            <a:ext cx="54864" cy="54864"/>
          </a:xfrm>
          <a:prstGeom prst="ellipse">
            <a:avLst/>
          </a:prstGeom>
          <a:solidFill>
            <a:srgbClr val="E76565"/>
          </a:solidFill>
          <a:ln cap="flat" cmpd="sng" w="9525">
            <a:solidFill>
              <a:srgbClr val="E7656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6"/>
          <p:cNvSpPr txBox="1"/>
          <p:nvPr/>
        </p:nvSpPr>
        <p:spPr>
          <a:xfrm>
            <a:off x="5781294" y="3600450"/>
            <a:ext cx="2708910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1EE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D7E1EE"/>
                </a:solidFill>
                <a:latin typeface="Arial"/>
                <a:ea typeface="Arial"/>
                <a:cs typeface="Arial"/>
                <a:sym typeface="Arial"/>
              </a:rPr>
              <a:t>Aulas 07–08 — ReAct, Tool Calling e Memória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36"/>
          <p:cNvSpPr txBox="1"/>
          <p:nvPr/>
        </p:nvSpPr>
        <p:spPr>
          <a:xfrm>
            <a:off x="5589270" y="4217670"/>
            <a:ext cx="25374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C7B7"/>
              </a:buClr>
              <a:buSzPts val="1900"/>
              <a:buFont typeface="Play"/>
              <a:buNone/>
            </a:pPr>
            <a:r>
              <a:rPr b="1" i="0" lang="pt-BR" sz="1900" u="none" cap="none" strike="noStrike">
                <a:solidFill>
                  <a:srgbClr val="23C7B7"/>
                </a:solidFill>
                <a:latin typeface="Play"/>
                <a:ea typeface="Play"/>
                <a:cs typeface="Play"/>
                <a:sym typeface="Play"/>
              </a:rPr>
              <a:t>Obrigado!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36"/>
          <p:cNvSpPr txBox="1"/>
          <p:nvPr/>
        </p:nvSpPr>
        <p:spPr>
          <a:xfrm>
            <a:off x="521208" y="4752594"/>
            <a:ext cx="24003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7AE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8797AE"/>
                </a:solidFill>
                <a:latin typeface="Arial"/>
                <a:ea typeface="Arial"/>
                <a:cs typeface="Arial"/>
                <a:sym typeface="Arial"/>
              </a:rPr>
              <a:t>Revisão final • FIAP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36"/>
          <p:cNvSpPr txBox="1"/>
          <p:nvPr/>
        </p:nvSpPr>
        <p:spPr>
          <a:xfrm>
            <a:off x="8366760" y="4752594"/>
            <a:ext cx="30861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797AE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8797AE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